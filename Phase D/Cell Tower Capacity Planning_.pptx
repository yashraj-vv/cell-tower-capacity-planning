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9" r:id="rId5"/>
    <p:sldMasterId id="214748371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y="5143500" cx="9144000"/>
  <p:notesSz cx="6858000" cy="9144000"/>
  <p:embeddedFontLst>
    <p:embeddedFont>
      <p:font typeface="IBM Plex Sans"/>
      <p:regular r:id="rId37"/>
      <p:bold r:id="rId38"/>
      <p:italic r:id="rId39"/>
      <p:boldItalic r:id="rId40"/>
    </p:embeddedFont>
    <p:embeddedFont>
      <p:font typeface="Sora SemiBold"/>
      <p:regular r:id="rId41"/>
      <p:bold r:id="rId42"/>
    </p:embeddedFont>
    <p:embeddedFont>
      <p:font typeface="Roboto"/>
      <p:regular r:id="rId43"/>
      <p:bold r:id="rId44"/>
      <p:italic r:id="rId45"/>
      <p:boldItalic r:id="rId46"/>
    </p:embeddedFont>
    <p:embeddedFont>
      <p:font typeface="Source Code Pro"/>
      <p:regular r:id="rId47"/>
      <p:bold r:id="rId48"/>
      <p:italic r:id="rId49"/>
      <p:boldItalic r:id="rId50"/>
    </p:embeddedFont>
    <p:embeddedFont>
      <p:font typeface="IBM Plex Sans Medium"/>
      <p:regular r:id="rId51"/>
      <p:bold r:id="rId52"/>
      <p:italic r:id="rId53"/>
      <p:boldItalic r:id="rId54"/>
    </p:embeddedFont>
    <p:embeddedFont>
      <p:font typeface="Sora Light"/>
      <p:regular r:id="rId55"/>
      <p:bold r:id="rId56"/>
    </p:embeddedFont>
    <p:embeddedFont>
      <p:font typeface="Sora ExtraLight"/>
      <p:regular r:id="rId57"/>
      <p:bold r:id="rId58"/>
    </p:embeddedFont>
    <p:embeddedFont>
      <p:font typeface="Oswald"/>
      <p:regular r:id="rId59"/>
      <p:bold r:id="rId60"/>
    </p:embeddedFont>
    <p:embeddedFont>
      <p:font typeface="Sora"/>
      <p:regular r:id="rId61"/>
      <p:bold r:id="rId62"/>
    </p:embeddedFont>
    <p:embeddedFont>
      <p:font typeface="Sora Medium"/>
      <p:regular r:id="rId63"/>
      <p:bold r:id="rId64"/>
    </p:embeddedFont>
    <p:embeddedFont>
      <p:font typeface="IBM Plex Sans SemiBold"/>
      <p:regular r:id="rId65"/>
      <p:bold r:id="rId66"/>
      <p:italic r:id="rId67"/>
      <p:boldItalic r:id="rId6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A1D3D0-9E49-4337-B3BE-B1C12DB1DF66}">
  <a:tblStyle styleId="{7CA1D3D0-9E49-4337-B3BE-B1C12DB1DF6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ans-boldItalic.fntdata"/><Relationship Id="rId42" Type="http://schemas.openxmlformats.org/officeDocument/2006/relationships/font" Target="fonts/SoraSemiBold-bold.fntdata"/><Relationship Id="rId41" Type="http://schemas.openxmlformats.org/officeDocument/2006/relationships/font" Target="fonts/SoraSemiBold-regular.fntdata"/><Relationship Id="rId44" Type="http://schemas.openxmlformats.org/officeDocument/2006/relationships/font" Target="fonts/Roboto-bold.fntdata"/><Relationship Id="rId43" Type="http://schemas.openxmlformats.org/officeDocument/2006/relationships/font" Target="fonts/Roboto-regular.fntdata"/><Relationship Id="rId46" Type="http://schemas.openxmlformats.org/officeDocument/2006/relationships/font" Target="fonts/Roboto-boldItalic.fntdata"/><Relationship Id="rId45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SourceCodePro-bold.fntdata"/><Relationship Id="rId47" Type="http://schemas.openxmlformats.org/officeDocument/2006/relationships/font" Target="fonts/SourceCodePro-regular.fntdata"/><Relationship Id="rId49" Type="http://schemas.openxmlformats.org/officeDocument/2006/relationships/font" Target="fonts/SourceCodePro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font" Target="fonts/IBMPlexSans-regular.fntdata"/><Relationship Id="rId36" Type="http://schemas.openxmlformats.org/officeDocument/2006/relationships/slide" Target="slides/slide29.xml"/><Relationship Id="rId39" Type="http://schemas.openxmlformats.org/officeDocument/2006/relationships/font" Target="fonts/IBMPlexSans-italic.fntdata"/><Relationship Id="rId38" Type="http://schemas.openxmlformats.org/officeDocument/2006/relationships/font" Target="fonts/IBMPlexSans-bold.fntdata"/><Relationship Id="rId62" Type="http://schemas.openxmlformats.org/officeDocument/2006/relationships/font" Target="fonts/Sora-bold.fntdata"/><Relationship Id="rId61" Type="http://schemas.openxmlformats.org/officeDocument/2006/relationships/font" Target="fonts/Sora-regular.fntdata"/><Relationship Id="rId20" Type="http://schemas.openxmlformats.org/officeDocument/2006/relationships/slide" Target="slides/slide13.xml"/><Relationship Id="rId64" Type="http://schemas.openxmlformats.org/officeDocument/2006/relationships/font" Target="fonts/SoraMedium-bold.fntdata"/><Relationship Id="rId63" Type="http://schemas.openxmlformats.org/officeDocument/2006/relationships/font" Target="fonts/SoraMedium-regular.fntdata"/><Relationship Id="rId22" Type="http://schemas.openxmlformats.org/officeDocument/2006/relationships/slide" Target="slides/slide15.xml"/><Relationship Id="rId66" Type="http://schemas.openxmlformats.org/officeDocument/2006/relationships/font" Target="fonts/IBMPlexSansSemiBold-bold.fntdata"/><Relationship Id="rId21" Type="http://schemas.openxmlformats.org/officeDocument/2006/relationships/slide" Target="slides/slide14.xml"/><Relationship Id="rId65" Type="http://schemas.openxmlformats.org/officeDocument/2006/relationships/font" Target="fonts/IBMPlexSansSemiBold-regular.fntdata"/><Relationship Id="rId24" Type="http://schemas.openxmlformats.org/officeDocument/2006/relationships/slide" Target="slides/slide17.xml"/><Relationship Id="rId68" Type="http://schemas.openxmlformats.org/officeDocument/2006/relationships/font" Target="fonts/IBMPlexSansSemiBold-boldItalic.fntdata"/><Relationship Id="rId23" Type="http://schemas.openxmlformats.org/officeDocument/2006/relationships/slide" Target="slides/slide16.xml"/><Relationship Id="rId67" Type="http://schemas.openxmlformats.org/officeDocument/2006/relationships/font" Target="fonts/IBMPlexSansSemiBold-italic.fntdata"/><Relationship Id="rId60" Type="http://schemas.openxmlformats.org/officeDocument/2006/relationships/font" Target="fonts/Oswald-bold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IBMPlexSansMedium-regular.fntdata"/><Relationship Id="rId50" Type="http://schemas.openxmlformats.org/officeDocument/2006/relationships/font" Target="fonts/SourceCodePro-boldItalic.fntdata"/><Relationship Id="rId53" Type="http://schemas.openxmlformats.org/officeDocument/2006/relationships/font" Target="fonts/IBMPlexSansMedium-italic.fntdata"/><Relationship Id="rId52" Type="http://schemas.openxmlformats.org/officeDocument/2006/relationships/font" Target="fonts/IBMPlexSansMedium-bold.fntdata"/><Relationship Id="rId11" Type="http://schemas.openxmlformats.org/officeDocument/2006/relationships/slide" Target="slides/slide4.xml"/><Relationship Id="rId55" Type="http://schemas.openxmlformats.org/officeDocument/2006/relationships/font" Target="fonts/SoraLight-regular.fntdata"/><Relationship Id="rId10" Type="http://schemas.openxmlformats.org/officeDocument/2006/relationships/slide" Target="slides/slide3.xml"/><Relationship Id="rId54" Type="http://schemas.openxmlformats.org/officeDocument/2006/relationships/font" Target="fonts/IBMPlexSansMedium-boldItalic.fntdata"/><Relationship Id="rId13" Type="http://schemas.openxmlformats.org/officeDocument/2006/relationships/slide" Target="slides/slide6.xml"/><Relationship Id="rId57" Type="http://schemas.openxmlformats.org/officeDocument/2006/relationships/font" Target="fonts/SoraExtraLight-regular.fntdata"/><Relationship Id="rId12" Type="http://schemas.openxmlformats.org/officeDocument/2006/relationships/slide" Target="slides/slide5.xml"/><Relationship Id="rId56" Type="http://schemas.openxmlformats.org/officeDocument/2006/relationships/font" Target="fonts/SoraLight-bold.fntdata"/><Relationship Id="rId15" Type="http://schemas.openxmlformats.org/officeDocument/2006/relationships/slide" Target="slides/slide8.xml"/><Relationship Id="rId59" Type="http://schemas.openxmlformats.org/officeDocument/2006/relationships/font" Target="fonts/Oswald-regular.fntdata"/><Relationship Id="rId14" Type="http://schemas.openxmlformats.org/officeDocument/2006/relationships/slide" Target="slides/slide7.xml"/><Relationship Id="rId58" Type="http://schemas.openxmlformats.org/officeDocument/2006/relationships/font" Target="fonts/SoraExtraLight-bold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82cef02bbe_2_2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382cef02bbe_2_2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82cef02bbe_2_2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382cef02bbe_2_2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38a5df877db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38a5df877d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382ee184fe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382ee184fe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3793fe2b35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3793fe2b35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3793fe2b358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3793fe2b358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382cef02bbe_3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382cef02bbe_3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382cef02bbe_3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382cef02bbe_3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382cef02bbe_3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6" name="Google Shape;1006;g382cef02bbe_3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38a5df877db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38a5df877db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37f4a6aaaf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37f4a6aaaf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37f4a6aaaf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6" name="Google Shape;1026;g37f4a6aaaf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37f4a6aaaf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37f4a6aaaf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382cef02bbe_3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382cef02bbe_3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37f3a4609f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9" name="Google Shape;1049;g37f3a4609f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37f3a4609f3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37f3a4609f3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37f3a4609f3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37f3a4609f3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3873fd8643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3873fd8643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37f3a4609f3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37f3a4609f3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37f3a4609f3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37f3a4609f3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3873fd8643c_1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3873fd8643c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873fd8643c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3873fd8643c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3873fd8643c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3873fd8643c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3a01c1185d3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3a01c1185d3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3873fd8643c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9" name="Google Shape;1119;g3873fd8643c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39e1b6e161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" name="Google Shape;1127;g39e1b6e161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38a5df877db_2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38a5df877db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g382cef02bbe_2_9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0" name="Google Shape;1140;g382cef02bbe_2_9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382cef02bbe_2_2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5" name="Google Shape;1145;g382cef02bbe_2_2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5" name="Google Shape;35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70" name="Google Shape;70;p15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" name="Google Shape;71;p15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72" name="Google Shape;72;p15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73" name="Google Shape;73;p15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74" name="Google Shape;74;p15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75" name="Google Shape;75;p15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76" name="Google Shape;76;p15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77" name="Google Shape;77;p1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8" name="Google Shape;78;p1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9" name="Google Shape;79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2" name="Google Shape;82;p15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83" name="Google Shape;83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4" name="Google Shape;84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7" name="Google Shape;87;p1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8" name="Google Shape;88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" name="Google Shape;89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" name="Google Shape;90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2" name="Google Shape;92;p15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93" name="Google Shape;93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95" name="Google Shape;95;p15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96" name="Google Shape;96;p15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6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99" name="Google Shape;99;p1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00" name="Google Shape;100;p1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1" name="Google Shape;101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" name="Google Shape;102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" name="Google Shape;103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4" name="Google Shape;104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5" name="Google Shape;105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6" name="Google Shape;106;p1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7" name="Google Shape;107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8" name="Google Shape;108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9" name="Google Shape;109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0" name="Google Shape;110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1" name="Google Shape;111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2" name="Google Shape;112;p1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1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24" name="Google Shape;124;p1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25" name="Google Shape;125;p16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7" name="Google Shape;127;p16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8" name="Google Shape;128;p16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9" name="Google Shape;129;p16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30" name="Google Shape;130;p1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32" name="Google Shape;132;p1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oogle Shape;134;p17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135" name="Google Shape;135;p1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36" name="Google Shape;136;p1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7" name="Google Shape;137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" name="Google Shape;138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" name="Google Shape;139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0" name="Google Shape;140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1" name="Google Shape;141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2" name="Google Shape;142;p1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3" name="Google Shape;143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" name="Google Shape;144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" name="Google Shape;145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6" name="Google Shape;146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7" name="Google Shape;147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8" name="Google Shape;148;p1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9" name="Google Shape;149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0" name="Google Shape;150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1" name="Google Shape;151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2" name="Google Shape;152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3" name="Google Shape;153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54" name="Google Shape;154;p1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55" name="Google Shape;155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6" name="Google Shape;156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7" name="Google Shape;157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8" name="Google Shape;158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9" name="Google Shape;159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60" name="Google Shape;160;p1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61" name="Google Shape;161;p1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2" name="Google Shape;162;p17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3" name="Google Shape;163;p17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5" name="Google Shape;165;p17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66" name="Google Shape;166;p17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7" name="Google Shape;167;p1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p18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70" name="Google Shape;170;p18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71" name="Google Shape;171;p18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2" name="Google Shape;172;p18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3" name="Google Shape;173;p18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4" name="Google Shape;174;p18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5" name="Google Shape;175;p18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6" name="Google Shape;176;p18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7" name="Google Shape;177;p18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8" name="Google Shape;178;p18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9" name="Google Shape;179;p18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0" name="Google Shape;180;p18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1" name="Google Shape;181;p18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2" name="Google Shape;182;p18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83" name="Google Shape;183;p18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84" name="Google Shape;184;p18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5" name="Google Shape;185;p18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6" name="Google Shape;186;p18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7" name="Google Shape;187;p18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8" name="Google Shape;188;p18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89" name="Google Shape;189;p18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90" name="Google Shape;190;p18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91" name="Google Shape;191;p18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92" name="Google Shape;192;p18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93" name="Google Shape;193;p18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94" name="Google Shape;194;p18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95" name="Google Shape;195;p18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96" name="Google Shape;196;p18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97" name="Google Shape;197;p18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98" name="Google Shape;198;p18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18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18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18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18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203" name="Google Shape;203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7" name="Google Shape;207;p18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208" name="Google Shape;208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9" name="Google Shape;20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10" name="Google Shape;21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11" name="Google Shape;21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12" name="Google Shape;212;p18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213" name="Google Shape;213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14" name="Google Shape;214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15" name="Google Shape;21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16" name="Google Shape;21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217" name="Google Shape;217;p18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218" name="Google Shape;218;p18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19" name="Google Shape;219;p18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20" name="Google Shape;220;p18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21" name="Google Shape;221;p1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2" name="Google Shape;222;p18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223" name="Google Shape;223;p18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24" name="Google Shape;224;p18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27" name="Google Shape;227;p19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28" name="Google Shape;228;p19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29" name="Google Shape;229;p19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0" name="Google Shape;230;p19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31" name="Google Shape;231;p19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19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19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19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5" name="Google Shape;235;p19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6" name="Google Shape;236;p19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7" name="Google Shape;237;p19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38" name="Google Shape;238;p19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39" name="Google Shape;239;p19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240" name="Google Shape;240;p19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2" name="Google Shape;242;p19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45" name="Google Shape;245;p20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47" name="Google Shape;247;p2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8" name="Google Shape;248;p20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249" name="Google Shape;249;p20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0" name="Google Shape;250;p2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1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253" name="Google Shape;253;p21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254" name="Google Shape;254;p21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255" name="Google Shape;255;p21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256" name="Google Shape;256;p21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7" name="Google Shape;257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8" name="Google Shape;258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9" name="Google Shape;259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60" name="Google Shape;260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61" name="Google Shape;261;p21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62" name="Google Shape;262;p21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63" name="Google Shape;263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64" name="Google Shape;264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65" name="Google Shape;265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66" name="Google Shape;266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67" name="Google Shape;267;p21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68" name="Google Shape;268;p21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21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70" name="Google Shape;270;p21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71" name="Google Shape;271;p21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2" name="Google Shape;272;p21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76" name="Google Shape;276;p22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77" name="Google Shape;277;p22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78" name="Google Shape;278;p22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9" name="Google Shape;279;p22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oogle Shape;281;p23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82" name="Google Shape;282;p2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83" name="Google Shape;283;p2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4" name="Google Shape;284;p2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5" name="Google Shape;285;p2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6" name="Google Shape;286;p2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7" name="Google Shape;287;p2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88" name="Google Shape;288;p2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89" name="Google Shape;289;p2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0" name="Google Shape;290;p2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1" name="Google Shape;291;p2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2" name="Google Shape;292;p2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3" name="Google Shape;293;p2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94" name="Google Shape;294;p2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2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2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7" name="Google Shape;297;p2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98" name="Google Shape;298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99" name="Google Shape;299;p23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00" name="Google Shape;300;p2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03" name="Google Shape;303;p24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304" name="Google Shape;304;p24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305" name="Google Shape;305;p24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306" name="Google Shape;306;p24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307" name="Google Shape;307;p24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08" name="Google Shape;308;p24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24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24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24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24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24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14" name="Google Shape;314;p24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315" name="Google Shape;315;p24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316" name="Google Shape;316;p24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317" name="Google Shape;317;p24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5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25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321" name="Google Shape;321;p25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22" name="Google Shape;322;p25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23" name="Google Shape;323;p25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4" name="Google Shape;324;p25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5" name="Google Shape;325;p25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25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7" name="Google Shape;327;p25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8" name="Google Shape;328;p25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0" name="Google Shape;330;p25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1" name="Google Shape;331;p25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33" name="Google Shape;333;p25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4" name="Google Shape;334;p25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6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37" name="Google Shape;337;p26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338" name="Google Shape;338;p26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39" name="Google Shape;339;p26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340" name="Google Shape;340;p26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41" name="Google Shape;341;p26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42" name="Google Shape;342;p26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43" name="Google Shape;343;p26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44" name="Google Shape;344;p26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345" name="Google Shape;345;p26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46" name="Google Shape;346;p26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7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9" name="Google Shape;349;p27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50" name="Google Shape;350;p27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351" name="Google Shape;351;p27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352" name="Google Shape;352;p2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3" name="Google Shape;353;p2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4" name="Google Shape;354;p2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5" name="Google Shape;355;p27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56" name="Google Shape;356;p27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357" name="Google Shape;357;p2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8" name="Google Shape;358;p2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9" name="Google Shape;359;p2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0" name="Google Shape;360;p27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61" name="Google Shape;361;p27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62" name="Google Shape;362;p2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3" name="Google Shape;363;p2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4" name="Google Shape;364;p2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5" name="Google Shape;365;p27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66" name="Google Shape;366;p27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67" name="Google Shape;367;p27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68" name="Google Shape;368;p27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9" name="Google Shape;369;p27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0" name="Google Shape;370;p27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1" name="Google Shape;371;p2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8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4" name="Google Shape;374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5" name="Google Shape;375;p28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76" name="Google Shape;376;p2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9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9" name="Google Shape;379;p29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0" name="Google Shape;380;p29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1" name="Google Shape;381;p29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2" name="Google Shape;382;p29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3" name="Google Shape;383;p29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4" name="Google Shape;384;p29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5" name="Google Shape;385;p29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6" name="Google Shape;386;p29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7" name="Google Shape;387;p29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8" name="Google Shape;388;p29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89" name="Google Shape;389;p29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90" name="Google Shape;390;p29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91" name="Google Shape;391;p29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92" name="Google Shape;392;p29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93" name="Google Shape;393;p29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94" name="Google Shape;394;p29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95" name="Google Shape;395;p29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96" name="Google Shape;396;p29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97" name="Google Shape;397;p29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98" name="Google Shape;398;p29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0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1" name="Google Shape;401;p30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30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30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30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05" name="Google Shape;405;p30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6" name="Google Shape;406;p30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7" name="Google Shape;407;p30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8" name="Google Shape;408;p30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9" name="Google Shape;409;p30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0" name="Google Shape;410;p30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30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2" name="Google Shape;412;p30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3" name="Google Shape;413;p30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4" name="Google Shape;414;p30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5" name="Google Shape;415;p30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6" name="Google Shape;416;p30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7" name="Google Shape;417;p30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8" name="Google Shape;418;p30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9" name="Google Shape;419;p30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0" name="Google Shape;420;p30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1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23" name="Google Shape;423;p31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24" name="Google Shape;424;p31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25" name="Google Shape;425;p31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426" name="Google Shape;426;p3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27" name="Google Shape;427;p3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8" name="Google Shape;428;p3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9" name="Google Shape;429;p3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0" name="Google Shape;430;p3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1" name="Google Shape;431;p3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32" name="Google Shape;432;p3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33" name="Google Shape;433;p3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4" name="Google Shape;434;p3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5" name="Google Shape;435;p3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3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37" name="Google Shape;437;p3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38" name="Google Shape;438;p3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3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0" name="Google Shape;440;p3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1" name="Google Shape;441;p3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42" name="Google Shape;442;p31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3" name="Google Shape;443;p31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4" name="Google Shape;444;p31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31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31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47" name="Google Shape;447;p31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9" name="Google Shape;449;p31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0" name="Google Shape;450;p31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51" name="Google Shape;451;p31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52" name="Google Shape;452;p31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53" name="Google Shape;453;p31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4" name="Google Shape;454;p31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55" name="Google Shape;455;p31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2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58" name="Google Shape;458;p32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59" name="Google Shape;459;p32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0" name="Google Shape;460;p32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1" name="Google Shape;461;p32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2" name="Google Shape;462;p32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3" name="Google Shape;463;p32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4" name="Google Shape;464;p32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5" name="Google Shape;465;p32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6" name="Google Shape;466;p32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7" name="Google Shape;467;p32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8" name="Google Shape;468;p32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9" name="Google Shape;469;p32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70" name="Google Shape;470;p32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71" name="Google Shape;471;p32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72" name="Google Shape;472;p32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73" name="Google Shape;473;p32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74" name="Google Shape;474;p32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3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7" name="Google Shape;477;p33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78" name="Google Shape;478;p33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79" name="Google Shape;479;p3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80" name="Google Shape;480;p33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81" name="Google Shape;481;p33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82" name="Google Shape;482;p33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83" name="Google Shape;483;p33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84" name="Google Shape;484;p33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85" name="Google Shape;485;p33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6" name="Google Shape;486;p33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7" name="Google Shape;487;p33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33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33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90" name="Google Shape;490;p33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2" name="Google Shape;492;p34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93" name="Google Shape;493;p3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94" name="Google Shape;494;p3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5" name="Google Shape;495;p3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6" name="Google Shape;496;p3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7" name="Google Shape;497;p3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8" name="Google Shape;498;p3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99" name="Google Shape;499;p3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00" name="Google Shape;500;p3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1" name="Google Shape;501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2" name="Google Shape;502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3" name="Google Shape;503;p3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04" name="Google Shape;504;p3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05" name="Google Shape;505;p3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6" name="Google Shape;506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7" name="Google Shape;507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8" name="Google Shape;508;p3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09" name="Google Shape;509;p3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10" name="Google Shape;510;p34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11" name="Google Shape;511;p34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12" name="Google Shape;512;p34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13" name="Google Shape;513;p34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14" name="Google Shape;514;p34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515" name="Google Shape;515;p3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7" name="Google Shape;517;p35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518" name="Google Shape;518;p35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19" name="Google Shape;519;p35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20" name="Google Shape;520;p35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21" name="Google Shape;521;p35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22" name="Google Shape;522;p35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23" name="Google Shape;523;p35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24" name="Google Shape;524;p35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25" name="Google Shape;525;p3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26" name="Google Shape;526;p3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27" name="Google Shape;527;p3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28" name="Google Shape;528;p35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29" name="Google Shape;529;p35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30" name="Google Shape;530;p3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31" name="Google Shape;531;p3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32" name="Google Shape;532;p3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33" name="Google Shape;533;p35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34" name="Google Shape;534;p35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35" name="Google Shape;535;p35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36" name="Google Shape;536;p35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37" name="Google Shape;537;p35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538" name="Google Shape;538;p35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" name="Google Shape;539;p35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" name="Google Shape;540;p35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1" name="Google Shape;541;p35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42" name="Google Shape;542;p35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43" name="Google Shape;543;p35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44" name="Google Shape;544;p35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45" name="Google Shape;545;p35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46" name="Google Shape;546;p35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47" name="Google Shape;547;p35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48" name="Google Shape;548;p35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49" name="Google Shape;549;p35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50" name="Google Shape;550;p35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51" name="Google Shape;551;p35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2" name="Google Shape;552;p35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4" name="Google Shape;554;p36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555" name="Google Shape;555;p36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556" name="Google Shape;556;p36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557" name="Google Shape;557;p36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8" name="Google Shape;558;p36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9" name="Google Shape;559;p36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0" name="Google Shape;560;p36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1" name="Google Shape;561;p36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62" name="Google Shape;562;p3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3" name="Google Shape;563;p3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4" name="Google Shape;564;p3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5" name="Google Shape;565;p3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6" name="Google Shape;566;p3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7" name="Google Shape;567;p3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68" name="Google Shape;568;p36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69" name="Google Shape;569;p36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0" name="Google Shape;570;p3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1" name="Google Shape;571;p3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2" name="Google Shape;572;p3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3" name="Google Shape;573;p3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4" name="Google Shape;574;p3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5" name="Google Shape;575;p3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6" name="Google Shape;576;p3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7" name="Google Shape;577;p3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8" name="Google Shape;578;p3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79" name="Google Shape;579;p36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80" name="Google Shape;580;p36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81" name="Google Shape;581;p3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82" name="Google Shape;582;p3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3" name="Google Shape;583;p3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4" name="Google Shape;584;p3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5" name="Google Shape;585;p3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6" name="Google Shape;586;p3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7" name="Google Shape;587;p3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8" name="Google Shape;588;p3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9" name="Google Shape;589;p3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0" name="Google Shape;590;p3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1" name="Google Shape;591;p3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2" name="Google Shape;592;p3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3" name="Google Shape;593;p3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4" name="Google Shape;594;p3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95" name="Google Shape;595;p3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6" name="Google Shape;596;p3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7" name="Google Shape;597;p3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8" name="Google Shape;598;p3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9" name="Google Shape;599;p3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00" name="Google Shape;600;p3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1" name="Google Shape;601;p3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02" name="Google Shape;602;p3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03" name="Google Shape;603;p3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04" name="Google Shape;604;p3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05" name="Google Shape;605;p3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06" name="Google Shape;606;p3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07" name="Google Shape;607;p36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08" name="Google Shape;608;p36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09" name="Google Shape;609;p36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0" name="Google Shape;610;p36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11" name="Google Shape;611;p3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36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13" name="Google Shape;613;p36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4" name="Google Shape;614;p36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15" name="Google Shape;615;p36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8" name="Google Shape;618;p36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19" name="Google Shape;619;p36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0" name="Google Shape;620;p36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1" name="Google Shape;621;p36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2" name="Google Shape;622;p36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3" name="Google Shape;623;p36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7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26" name="Google Shape;626;p37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627" name="Google Shape;627;p37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8" name="Google Shape;628;p37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9" name="Google Shape;629;p37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0" name="Google Shape;630;p37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1" name="Google Shape;631;p37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2" name="Google Shape;632;p37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33" name="Google Shape;633;p37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4" name="Google Shape;634;p37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5" name="Google Shape;635;p37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6" name="Google Shape;636;p37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37" name="Google Shape;637;p37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38" name="Google Shape;638;p37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39" name="Google Shape;639;p37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40" name="Google Shape;640;p37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41" name="Google Shape;641;p37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42" name="Google Shape;642;p37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8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45" name="Google Shape;645;p38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46" name="Google Shape;646;p38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47" name="Google Shape;647;p38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48" name="Google Shape;648;p38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49" name="Google Shape;649;p3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0" name="Google Shape;650;p38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51" name="Google Shape;651;p38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3" name="Google Shape;653;p39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654" name="Google Shape;654;p39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655" name="Google Shape;655;p39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6" name="Google Shape;656;p39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7" name="Google Shape;657;p3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58" name="Google Shape;658;p39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59" name="Google Shape;659;p39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60" name="Google Shape;660;p3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61" name="Google Shape;661;p3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62" name="Google Shape;662;p39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63" name="Google Shape;663;p39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64" name="Google Shape;664;p3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65" name="Google Shape;665;p3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66" name="Google Shape;666;p39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67" name="Google Shape;667;p39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68" name="Google Shape;668;p3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69" name="Google Shape;669;p39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70" name="Google Shape;670;p3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71" name="Google Shape;671;p39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2" name="Google Shape;672;p39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73" name="Google Shape;673;p39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74" name="Google Shape;674;p39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75" name="Google Shape;675;p39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39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39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8" name="Google Shape;678;p39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9" name="Google Shape;679;p39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80" name="Google Shape;680;p39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81" name="Google Shape;681;p39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3" name="Google Shape;683;p40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84" name="Google Shape;684;p40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85" name="Google Shape;685;p40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86" name="Google Shape;686;p4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87" name="Google Shape;687;p40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88" name="Google Shape;688;p40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89" name="Google Shape;689;p40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90" name="Google Shape;690;p40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91" name="Google Shape;691;p40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92" name="Google Shape;692;p40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93" name="Google Shape;693;p40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94" name="Google Shape;694;p40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95" name="Google Shape;695;p40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96" name="Google Shape;696;p40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97" name="Google Shape;697;p40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98" name="Google Shape;698;p40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99" name="Google Shape;699;p40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0" name="Google Shape;700;p40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1" name="Google Shape;701;p40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2" name="Google Shape;702;p40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3" name="Google Shape;703;p40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40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705" name="Google Shape;705;p40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706" name="Google Shape;706;p40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707" name="Google Shape;707;p40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708" name="Google Shape;708;p40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709" name="Google Shape;709;p40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10" name="Google Shape;710;p40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711" name="Google Shape;711;p40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712" name="Google Shape;712;p40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713" name="Google Shape;713;p40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14" name="Google Shape;714;p40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15" name="Google Shape;715;p40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716" name="Google Shape;716;p40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717" name="Google Shape;717;p40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18" name="Google Shape;718;p40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719" name="Google Shape;719;p40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720" name="Google Shape;720;p40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21" name="Google Shape;721;p40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2" name="Google Shape;722;p40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723" name="Google Shape;723;p40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4" name="Google Shape;724;p40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25" name="Google Shape;725;p40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26" name="Google Shape;726;p40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27" name="Google Shape;727;p40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28" name="Google Shape;728;p40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9" name="Google Shape;729;p40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30" name="Google Shape;730;p40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31" name="Google Shape;731;p40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41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34" name="Google Shape;734;p41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35" name="Google Shape;735;p41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36" name="Google Shape;736;p41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737" name="Google Shape;737;p41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38" name="Google Shape;738;p41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39" name="Google Shape;739;p41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0" name="Google Shape;740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41" name="Google Shape;741;p41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42" name="Google Shape;742;p41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3" name="Google Shape;743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4" name="Google Shape;744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5" name="Google Shape;745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46" name="Google Shape;746;p41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47" name="Google Shape;747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8" name="Google Shape;748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9" name="Google Shape;749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50" name="Google Shape;750;p41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51" name="Google Shape;751;p41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52" name="Google Shape;752;p41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53" name="Google Shape;753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54" name="Google Shape;754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55" name="Google Shape;755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56" name="Google Shape;756;p41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57" name="Google Shape;757;p41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58" name="Google Shape;758;p41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59" name="Google Shape;759;p41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60" name="Google Shape;760;p4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1" name="Google Shape;761;p41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62" name="Google Shape;762;p41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63" name="Google Shape;763;p41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4" name="Google Shape;764;p41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5" name="Google Shape;765;p41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6" name="Google Shape;766;p41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7" name="Google Shape;767;p41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42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70" name="Google Shape;770;p42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71" name="Google Shape;771;p42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72" name="Google Shape;772;p42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73" name="Google Shape;773;p42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74" name="Google Shape;774;p42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75" name="Google Shape;775;p42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6" name="Google Shape;776;p42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77" name="Google Shape;777;p42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78" name="Google Shape;778;p42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9" name="Google Shape;779;p4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80" name="Google Shape;780;p42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81" name="Google Shape;781;p42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2" name="Google Shape;782;p4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3" name="Google Shape;783;p4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4" name="Google Shape;784;p4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85" name="Google Shape;785;p42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86" name="Google Shape;786;p4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7" name="Google Shape;787;p4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8" name="Google Shape;788;p4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89" name="Google Shape;789;p42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90" name="Google Shape;790;p42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91" name="Google Shape;791;p42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92" name="Google Shape;792;p4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93" name="Google Shape;793;p4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94" name="Google Shape;794;p4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95" name="Google Shape;795;p42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96" name="Google Shape;796;p42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97" name="Google Shape;797;p42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98" name="Google Shape;798;p42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99" name="Google Shape;799;p42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800" name="Google Shape;800;p42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801" name="Google Shape;801;p42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802" name="Google Shape;802;p42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803" name="Google Shape;803;p42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4" name="Google Shape;804;p42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5" name="Google Shape;805;p42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6" name="Google Shape;806;p42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7" name="Google Shape;807;p42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808" name="Google Shape;808;p42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43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811" name="Google Shape;811;p43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812" name="Google Shape;812;p43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813" name="Google Shape;813;p4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14" name="Google Shape;814;p4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5" name="Google Shape;815;p4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6" name="Google Shape;816;p4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7" name="Google Shape;817;p4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8" name="Google Shape;818;p4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19" name="Google Shape;819;p4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0" name="Google Shape;820;p4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1" name="Google Shape;821;p4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2" name="Google Shape;822;p4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3" name="Google Shape;823;p4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24" name="Google Shape;824;p43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825" name="Google Shape;825;p4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6" name="Google Shape;826;p4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7" name="Google Shape;827;p4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8" name="Google Shape;828;p43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29" name="Google Shape;829;p43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830" name="Google Shape;830;p4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31" name="Google Shape;831;p4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32" name="Google Shape;832;p4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33" name="Google Shape;833;p4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34" name="Google Shape;834;p4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35" name="Google Shape;835;p43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36" name="Google Shape;836;p43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37" name="Google Shape;837;p43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38" name="Google Shape;838;p43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9" name="Google Shape;839;p43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40" name="Google Shape;840;p43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41" name="Google Shape;841;p43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42" name="Google Shape;842;p43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43" name="Google Shape;843;p43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44" name="Google Shape;844;p43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45" name="Google Shape;845;p43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48" name="Google Shape;848;p4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3" name="Google Shape;853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6" name="Google Shape;856;p4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62" name="Google Shape;862;p4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5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5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67" name="Google Shape;867;p5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68" name="Google Shape;868;p5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5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5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4" name="Google Shape;874;p5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5" name="Google Shape;875;p5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6" name="Google Shape;876;p5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7" name="Google Shape;877;p5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8" name="Google Shape;878;p5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9" name="Google Shape;879;p5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2" name="Google Shape;882;p5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3" name="Google Shape;883;p5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6" name="Google Shape;886;p5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7" name="Google Shape;887;p5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8" name="Google Shape;888;p5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9" name="Google Shape;889;p5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5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2" name="Google Shape;892;p5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3" name="Google Shape;893;p5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4" name="Google Shape;894;p5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5" name="Google Shape;895;p5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6" name="Google Shape;896;p5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7" name="Google Shape;897;p5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5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0" name="Google Shape;900;p5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1" name="Google Shape;901;p5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2" name="Google Shape;902;p5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3" name="Google Shape;903;p5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4" name="Google Shape;904;p5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5" name="Google Shape;905;p5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6" name="Google Shape;906;p5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7" name="Google Shape;907;p5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0" name="Google Shape;910;p5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6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3" name="Google Shape;913;p6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14" name="Google Shape;914;p6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15" name="Google Shape;915;p6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6" name="Google Shape;916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7" name="Google Shape;917;p6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8" name="Google Shape;918;p6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6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21" name="Google Shape;921;p6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22" name="Google Shape;922;p6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23" name="Google Shape;923;p6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24" name="Google Shape;924;p6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6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26" name="Google Shape;926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7" name="Google Shape;927;p6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8" name="Google Shape;928;p6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9" name="Google Shape;929;p6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6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34" name="Google Shape;934;p6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35" name="Google Shape;935;p6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36" name="Google Shape;936;p6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37" name="Google Shape;937;p6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38" name="Google Shape;938;p6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39" name="Google Shape;939;p6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0" name="Google Shape;940;p6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41" name="Google Shape;941;p6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42" name="Google Shape;942;p6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2.xml"/><Relationship Id="rId42" Type="http://schemas.openxmlformats.org/officeDocument/2006/relationships/slideLayout" Target="../slideLayouts/slideLayout54.xml"/><Relationship Id="rId41" Type="http://schemas.openxmlformats.org/officeDocument/2006/relationships/slideLayout" Target="../slideLayouts/slideLayout53.xml"/><Relationship Id="rId44" Type="http://schemas.openxmlformats.org/officeDocument/2006/relationships/slideLayout" Target="../slideLayouts/slideLayout56.xml"/><Relationship Id="rId43" Type="http://schemas.openxmlformats.org/officeDocument/2006/relationships/slideLayout" Target="../slideLayouts/slideLayout55.xml"/><Relationship Id="rId46" Type="http://schemas.openxmlformats.org/officeDocument/2006/relationships/slideLayout" Target="../slideLayouts/slideLayout58.xml"/><Relationship Id="rId45" Type="http://schemas.openxmlformats.org/officeDocument/2006/relationships/slideLayout" Target="../slideLayouts/slideLayout57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48" Type="http://schemas.openxmlformats.org/officeDocument/2006/relationships/slideLayout" Target="../slideLayouts/slideLayout60.xml"/><Relationship Id="rId47" Type="http://schemas.openxmlformats.org/officeDocument/2006/relationships/slideLayout" Target="../slideLayouts/slideLayout59.xml"/><Relationship Id="rId49" Type="http://schemas.openxmlformats.org/officeDocument/2006/relationships/slideLayout" Target="../slideLayouts/slideLayout6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31" Type="http://schemas.openxmlformats.org/officeDocument/2006/relationships/slideLayout" Target="../slideLayouts/slideLayout43.xml"/><Relationship Id="rId30" Type="http://schemas.openxmlformats.org/officeDocument/2006/relationships/slideLayout" Target="../slideLayouts/slideLayout42.xml"/><Relationship Id="rId33" Type="http://schemas.openxmlformats.org/officeDocument/2006/relationships/slideLayout" Target="../slideLayouts/slideLayout45.xml"/><Relationship Id="rId32" Type="http://schemas.openxmlformats.org/officeDocument/2006/relationships/slideLayout" Target="../slideLayouts/slideLayout44.xml"/><Relationship Id="rId35" Type="http://schemas.openxmlformats.org/officeDocument/2006/relationships/slideLayout" Target="../slideLayouts/slideLayout47.xml"/><Relationship Id="rId34" Type="http://schemas.openxmlformats.org/officeDocument/2006/relationships/slideLayout" Target="../slideLayouts/slideLayout46.xml"/><Relationship Id="rId37" Type="http://schemas.openxmlformats.org/officeDocument/2006/relationships/slideLayout" Target="../slideLayouts/slideLayout49.xml"/><Relationship Id="rId36" Type="http://schemas.openxmlformats.org/officeDocument/2006/relationships/slideLayout" Target="../slideLayouts/slideLayout48.xml"/><Relationship Id="rId39" Type="http://schemas.openxmlformats.org/officeDocument/2006/relationships/slideLayout" Target="../slideLayouts/slideLayout51.xml"/><Relationship Id="rId38" Type="http://schemas.openxmlformats.org/officeDocument/2006/relationships/slideLayout" Target="../slideLayouts/slideLayout50.xml"/><Relationship Id="rId20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5.xml"/><Relationship Id="rId26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39.xml"/><Relationship Id="rId29" Type="http://schemas.openxmlformats.org/officeDocument/2006/relationships/slideLayout" Target="../slideLayouts/slideLayout41.xml"/><Relationship Id="rId50" Type="http://schemas.openxmlformats.org/officeDocument/2006/relationships/theme" Target="../theme/theme3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  <p:sldLayoutId id="2147483703" r:id="rId44"/>
    <p:sldLayoutId id="2147483704" r:id="rId45"/>
    <p:sldLayoutId id="2147483705" r:id="rId46"/>
    <p:sldLayoutId id="2147483706" r:id="rId47"/>
    <p:sldLayoutId id="2147483707" r:id="rId48"/>
    <p:sldLayoutId id="2147483708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huggingface.co/datasets/netop/Beam-Level-Traffic-Timeseries-Dataset" TargetMode="External"/><Relationship Id="rId4" Type="http://schemas.openxmlformats.org/officeDocument/2006/relationships/hyperlink" Target="https://www.kaggle.com/datasets/suraj520/cellular-network-analysis-dataset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gaurav-2408/cell-tower-capacity-planning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64"/>
          <p:cNvSpPr txBox="1"/>
          <p:nvPr>
            <p:ph type="title"/>
          </p:nvPr>
        </p:nvSpPr>
        <p:spPr>
          <a:xfrm>
            <a:off x="124950" y="1895400"/>
            <a:ext cx="5772300" cy="216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Cell Tower Capacity Planning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8" name="Google Shape;948;p64"/>
          <p:cNvSpPr txBox="1"/>
          <p:nvPr>
            <p:ph idx="1" type="subTitle"/>
          </p:nvPr>
        </p:nvSpPr>
        <p:spPr>
          <a:xfrm>
            <a:off x="228600" y="405780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ra"/>
                <a:ea typeface="Sora"/>
                <a:cs typeface="Sora"/>
                <a:sym typeface="Sora"/>
              </a:rPr>
              <a:t>Data Mining &amp; Predictive Analytics Approach</a:t>
            </a:r>
            <a:endParaRPr sz="12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ra"/>
                <a:ea typeface="Sora"/>
                <a:cs typeface="Sora"/>
                <a:sym typeface="Sora"/>
              </a:rPr>
              <a:t>Under the guidance of: DR. HEMANT RATHORE </a:t>
            </a:r>
            <a:endParaRPr sz="12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9" name="Google Shape;949;p64"/>
          <p:cNvSpPr txBox="1"/>
          <p:nvPr/>
        </p:nvSpPr>
        <p:spPr>
          <a:xfrm>
            <a:off x="5897250" y="2848225"/>
            <a:ext cx="3018300" cy="17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By:</a:t>
            </a:r>
            <a:endParaRPr sz="1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T Shubham</a:t>
            </a:r>
            <a:endParaRPr sz="1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Gaurav Jain</a:t>
            </a:r>
            <a:endParaRPr sz="1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Rajvardhan Jadhav</a:t>
            </a:r>
            <a:endParaRPr sz="1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Yashraj Verma </a:t>
            </a:r>
            <a:endParaRPr sz="1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65"/>
          <p:cNvSpPr txBox="1"/>
          <p:nvPr>
            <p:ph idx="3" type="title"/>
          </p:nvPr>
        </p:nvSpPr>
        <p:spPr>
          <a:xfrm>
            <a:off x="115025" y="424841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955" name="Google Shape;955;p65"/>
          <p:cNvSpPr txBox="1"/>
          <p:nvPr>
            <p:ph idx="15" type="subTitle"/>
          </p:nvPr>
        </p:nvSpPr>
        <p:spPr>
          <a:xfrm>
            <a:off x="4439925" y="1046250"/>
            <a:ext cx="3466200" cy="2392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5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111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IBM Plex Sans"/>
              <a:buAutoNum type="arabicPeriod"/>
            </a:pPr>
            <a:r>
              <a:rPr lang="en" sz="1300">
                <a:solidFill>
                  <a:schemeClr val="accent5"/>
                </a:solidFill>
                <a:latin typeface="IBM Plex Sans"/>
                <a:ea typeface="IBM Plex Sans"/>
                <a:cs typeface="IBM Plex Sans"/>
                <a:sym typeface="IBM Plex Sans"/>
              </a:rPr>
              <a:t>Motivation</a:t>
            </a:r>
            <a:endParaRPr sz="1300">
              <a:solidFill>
                <a:schemeClr val="accent5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111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IBM Plex Sans"/>
              <a:buAutoNum type="arabicPeriod"/>
            </a:pPr>
            <a:r>
              <a:rPr lang="en" sz="1300">
                <a:solidFill>
                  <a:schemeClr val="accent5"/>
                </a:solidFill>
                <a:latin typeface="IBM Plex Sans"/>
                <a:ea typeface="IBM Plex Sans"/>
                <a:cs typeface="IBM Plex Sans"/>
                <a:sym typeface="IBM Plex Sans"/>
              </a:rPr>
              <a:t>Objectives</a:t>
            </a:r>
            <a:endParaRPr sz="1300">
              <a:solidFill>
                <a:schemeClr val="accent5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111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IBM Plex Sans"/>
              <a:buAutoNum type="arabicPeriod"/>
            </a:pPr>
            <a:r>
              <a:rPr lang="en" sz="1300">
                <a:solidFill>
                  <a:schemeClr val="accent5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Source</a:t>
            </a:r>
            <a:endParaRPr sz="1300">
              <a:solidFill>
                <a:schemeClr val="accent5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111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IBM Plex Sans"/>
              <a:buAutoNum type="arabicPeriod"/>
            </a:pPr>
            <a:r>
              <a:rPr lang="en" sz="1300">
                <a:solidFill>
                  <a:schemeClr val="accent5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Performance Metrics</a:t>
            </a:r>
            <a:endParaRPr sz="1300">
              <a:solidFill>
                <a:schemeClr val="accent5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111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IBM Plex Sans"/>
              <a:buAutoNum type="arabicPeriod"/>
            </a:pPr>
            <a:r>
              <a:rPr lang="en" sz="1300">
                <a:solidFill>
                  <a:schemeClr val="accent5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 Statement and Github Link</a:t>
            </a:r>
            <a:endParaRPr sz="1300">
              <a:solidFill>
                <a:schemeClr val="accent5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111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IBM Plex Sans"/>
              <a:buAutoNum type="arabicPeriod"/>
            </a:pPr>
            <a:r>
              <a:rPr lang="en" sz="1300">
                <a:solidFill>
                  <a:schemeClr val="accent5"/>
                </a:solidFill>
                <a:latin typeface="IBM Plex Sans"/>
                <a:ea typeface="IBM Plex Sans"/>
                <a:cs typeface="IBM Plex Sans"/>
                <a:sym typeface="IBM Plex Sans"/>
              </a:rPr>
              <a:t>Methodology</a:t>
            </a:r>
            <a:endParaRPr sz="1300">
              <a:solidFill>
                <a:schemeClr val="accent5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311150" lvl="0" marL="4572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Font typeface="IBM Plex Sans"/>
              <a:buAutoNum type="arabicPeriod"/>
            </a:pPr>
            <a:r>
              <a:rPr lang="en" sz="1300">
                <a:solidFill>
                  <a:schemeClr val="accent5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Conclusion</a:t>
            </a:r>
            <a:endParaRPr sz="1300">
              <a:solidFill>
                <a:schemeClr val="accent5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66"/>
          <p:cNvSpPr txBox="1"/>
          <p:nvPr>
            <p:ph type="title"/>
          </p:nvPr>
        </p:nvSpPr>
        <p:spPr>
          <a:xfrm>
            <a:off x="96025" y="1206300"/>
            <a:ext cx="6272100" cy="7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66"/>
          <p:cNvSpPr txBox="1"/>
          <p:nvPr>
            <p:ph idx="1" type="subTitle"/>
          </p:nvPr>
        </p:nvSpPr>
        <p:spPr>
          <a:xfrm>
            <a:off x="115025" y="1895400"/>
            <a:ext cx="6768900" cy="28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Sora Light"/>
              <a:buChar char="●"/>
            </a:pPr>
            <a:r>
              <a:rPr lang="en" sz="1500">
                <a:latin typeface="Sora Light"/>
                <a:ea typeface="Sora Light"/>
                <a:cs typeface="Sora Light"/>
                <a:sym typeface="Sora Light"/>
              </a:rPr>
              <a:t>Increasing mobile data usage requires efficient network planning</a:t>
            </a:r>
            <a:endParaRPr sz="1500">
              <a:latin typeface="Sora Light"/>
              <a:ea typeface="Sora Light"/>
              <a:cs typeface="Sora Light"/>
              <a:sym typeface="Sora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Sora Light"/>
              <a:buChar char="●"/>
            </a:pPr>
            <a:r>
              <a:rPr lang="en" sz="1500">
                <a:latin typeface="Sora Light"/>
                <a:ea typeface="Sora Light"/>
                <a:cs typeface="Sora Light"/>
                <a:sym typeface="Sora Light"/>
              </a:rPr>
              <a:t>Overloaded towers cause dropped calls and poor internet experience</a:t>
            </a:r>
            <a:endParaRPr sz="1500">
              <a:latin typeface="Sora Light"/>
              <a:ea typeface="Sora Light"/>
              <a:cs typeface="Sora Light"/>
              <a:sym typeface="Sora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Sora Light"/>
              <a:buChar char="●"/>
            </a:pPr>
            <a:r>
              <a:rPr lang="en" sz="1500">
                <a:latin typeface="Sora Light"/>
                <a:ea typeface="Sora Light"/>
                <a:cs typeface="Sora Light"/>
                <a:sym typeface="Sora Light"/>
              </a:rPr>
              <a:t>Operators need predictive tools for proactive decision-making</a:t>
            </a:r>
            <a:endParaRPr sz="1500">
              <a:latin typeface="Sora Light"/>
              <a:ea typeface="Sora Light"/>
              <a:cs typeface="Sora Light"/>
              <a:sym typeface="Sora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Sora Light"/>
              <a:buChar char="●"/>
            </a:pPr>
            <a:r>
              <a:rPr lang="en" sz="1500">
                <a:latin typeface="Sora Light"/>
                <a:ea typeface="Sora Light"/>
                <a:cs typeface="Sora Light"/>
                <a:sym typeface="Sora Light"/>
              </a:rPr>
              <a:t>Data-driven planning ensures better QoS and cost optimization</a:t>
            </a:r>
            <a:endParaRPr sz="15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67"/>
          <p:cNvSpPr txBox="1"/>
          <p:nvPr>
            <p:ph idx="1" type="subTitle"/>
          </p:nvPr>
        </p:nvSpPr>
        <p:spPr>
          <a:xfrm>
            <a:off x="0" y="843725"/>
            <a:ext cx="7970100" cy="364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ora Light"/>
              <a:buChar char="●"/>
            </a:pPr>
            <a:r>
              <a:rPr lang="en" sz="1500">
                <a:latin typeface="Sora Light"/>
                <a:ea typeface="Sora Light"/>
                <a:cs typeface="Sora Light"/>
                <a:sym typeface="Sora Light"/>
              </a:rPr>
              <a:t>To present a data-driven framework for cell tower capacity planning.</a:t>
            </a:r>
            <a:endParaRPr sz="1500">
              <a:latin typeface="Sora Light"/>
              <a:ea typeface="Sora Light"/>
              <a:cs typeface="Sora Light"/>
              <a:sym typeface="Sora Light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ora Light"/>
              <a:buChar char="●"/>
            </a:pPr>
            <a:r>
              <a:rPr lang="en" sz="1500">
                <a:latin typeface="Sora Light"/>
                <a:ea typeface="Sora Light"/>
                <a:cs typeface="Sora Light"/>
                <a:sym typeface="Sora Light"/>
              </a:rPr>
              <a:t>To explain how data mining techniques (forecasting, anomaly detection, clustering, optimization) can help.</a:t>
            </a:r>
            <a:endParaRPr sz="1500">
              <a:latin typeface="Sora Light"/>
              <a:ea typeface="Sora Light"/>
              <a:cs typeface="Sora Light"/>
              <a:sym typeface="Sora Light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ora Light"/>
              <a:buChar char="●"/>
            </a:pPr>
            <a:r>
              <a:rPr lang="en" sz="1500">
                <a:latin typeface="Sora Light"/>
                <a:ea typeface="Sora Light"/>
                <a:cs typeface="Sora Light"/>
                <a:sym typeface="Sora Light"/>
              </a:rPr>
              <a:t>Predict future traffic load.</a:t>
            </a:r>
            <a:endParaRPr sz="1500">
              <a:latin typeface="Sora Light"/>
              <a:ea typeface="Sora Light"/>
              <a:cs typeface="Sora Light"/>
              <a:sym typeface="Sora Light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ora Light"/>
              <a:buChar char="●"/>
            </a:pPr>
            <a:r>
              <a:rPr lang="en" sz="1500">
                <a:latin typeface="Sora Light"/>
                <a:ea typeface="Sora Light"/>
                <a:cs typeface="Sora Light"/>
                <a:sym typeface="Sora Light"/>
              </a:rPr>
              <a:t>Detect capacity breaches early.</a:t>
            </a:r>
            <a:endParaRPr sz="1500">
              <a:latin typeface="Sora Light"/>
              <a:ea typeface="Sora Light"/>
              <a:cs typeface="Sora Light"/>
              <a:sym typeface="Sora Light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ora Light"/>
              <a:buChar char="●"/>
            </a:pPr>
            <a:r>
              <a:rPr lang="en" sz="1500">
                <a:latin typeface="Sora Light"/>
                <a:ea typeface="Sora Light"/>
                <a:cs typeface="Sora Light"/>
                <a:sym typeface="Sora Light"/>
              </a:rPr>
              <a:t>Identify geographic hotspots &amp; blind spots.</a:t>
            </a:r>
            <a:endParaRPr sz="1500">
              <a:latin typeface="Sora Light"/>
              <a:ea typeface="Sora Light"/>
              <a:cs typeface="Sora Light"/>
              <a:sym typeface="Sora Light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ora Light"/>
              <a:buChar char="●"/>
            </a:pPr>
            <a:r>
              <a:rPr lang="en" sz="1500">
                <a:latin typeface="Sora Light"/>
                <a:ea typeface="Sora Light"/>
                <a:cs typeface="Sora Light"/>
                <a:sym typeface="Sora Light"/>
              </a:rPr>
              <a:t>To show how a serverless AWS architecture with Step Functions can automate this end-to-end workflow.</a:t>
            </a:r>
            <a:endParaRPr sz="15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/>
          </a:p>
        </p:txBody>
      </p:sp>
      <p:sp>
        <p:nvSpPr>
          <p:cNvPr id="967" name="Google Shape;967;p67"/>
          <p:cNvSpPr txBox="1"/>
          <p:nvPr>
            <p:ph idx="2" type="title"/>
          </p:nvPr>
        </p:nvSpPr>
        <p:spPr>
          <a:xfrm>
            <a:off x="0" y="1018200"/>
            <a:ext cx="53139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Objectives</a:t>
            </a:r>
            <a:endParaRPr sz="3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68"/>
          <p:cNvSpPr txBox="1"/>
          <p:nvPr>
            <p:ph idx="2" type="title"/>
          </p:nvPr>
        </p:nvSpPr>
        <p:spPr>
          <a:xfrm>
            <a:off x="115025" y="21900"/>
            <a:ext cx="8191800" cy="8706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</a:t>
            </a:r>
            <a:endParaRPr/>
          </a:p>
        </p:txBody>
      </p:sp>
      <p:sp>
        <p:nvSpPr>
          <p:cNvPr id="973" name="Google Shape;973;p68"/>
          <p:cNvSpPr txBox="1"/>
          <p:nvPr>
            <p:ph idx="1" type="subTitle"/>
          </p:nvPr>
        </p:nvSpPr>
        <p:spPr>
          <a:xfrm>
            <a:off x="115025" y="689700"/>
            <a:ext cx="8626500" cy="44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IBM Plex Sans Medium"/>
              <a:buAutoNum type="arabicPeriod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Approach-1: Dataset : </a:t>
            </a:r>
            <a:r>
              <a:rPr lang="en" sz="1600">
                <a:solidFill>
                  <a:schemeClr val="hlink"/>
                </a:solidFill>
                <a:uFill>
                  <a:noFill/>
                </a:uFill>
                <a:latin typeface="IBM Plex Sans Medium"/>
                <a:ea typeface="IBM Plex Sans Medium"/>
                <a:cs typeface="IBM Plex Sans Medium"/>
                <a:sym typeface="IBM Plex Sans Medium"/>
                <a:hlinkClick r:id="rId3"/>
              </a:rPr>
              <a:t>Time Series Forecasting</a:t>
            </a:r>
            <a:b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</a:br>
            <a:r>
              <a:rPr b="1" lang="en" sz="1600">
                <a:latin typeface="IBM Plex Sans"/>
                <a:ea typeface="IBM Plex Sans"/>
                <a:cs typeface="IBM Plex Sans"/>
                <a:sym typeface="IBM Plex Sans"/>
              </a:rPr>
              <a:t>Attributes</a:t>
            </a: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: baseStationIndex, cellIndex, beamIndex, mode, channel, partner, dl_count, dlr_count, dlp_rate, rb_rate, date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AutoNum type="arabicPeriod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Approach-2: Dataset : OpenCellID - Ireland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600">
                <a:latin typeface="IBM Plex Sans"/>
                <a:ea typeface="IBM Plex Sans"/>
                <a:cs typeface="IBM Plex Sans"/>
                <a:sym typeface="IBM Plex Sans"/>
              </a:rPr>
              <a:t>Attributes: </a:t>
            </a: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'radio', 'mcc', 'mnc', 'lac_tac', 'cell_id', 'samples', 'longitude', 'latitude', 'range'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30200" lvl="0" marL="4572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IBM Plex Sans Medium"/>
              <a:buAutoNum type="arabicPeriod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Approach-3: UCC - 4G LTE Network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AutoNum type="alphaLcPeriod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Dataset - : </a:t>
            </a:r>
            <a:r>
              <a:rPr lang="en" sz="1600">
                <a:uFill>
                  <a:noFill/>
                </a:uFill>
                <a:latin typeface="IBM Plex Sans Medium"/>
                <a:ea typeface="IBM Plex Sans Medium"/>
                <a:cs typeface="IBM Plex Sans Medium"/>
                <a:sym typeface="IBM Plex Sans Medium"/>
                <a:hlinkClick r:id="rId4"/>
              </a:rPr>
              <a:t>Cellular Network Analysis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b="1" lang="en" sz="1600">
                <a:latin typeface="IBM Plex Sans"/>
                <a:ea typeface="IBM Plex Sans"/>
                <a:cs typeface="IBM Plex Sans"/>
                <a:sym typeface="IBM Plex Sans"/>
              </a:rPr>
              <a:t>Attributes</a:t>
            </a: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: 'timestamp', 'longitude', 'latitude', 'speed', 'operatorname', 'cellid', 'networkmode', 'rsrp', 'rsrq', 'snr',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69"/>
          <p:cNvSpPr txBox="1"/>
          <p:nvPr>
            <p:ph idx="2" type="title"/>
          </p:nvPr>
        </p:nvSpPr>
        <p:spPr>
          <a:xfrm>
            <a:off x="115025" y="124850"/>
            <a:ext cx="7503900" cy="13953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</a:t>
            </a:r>
            <a:r>
              <a:rPr lang="en"/>
              <a:t> Metrics</a:t>
            </a:r>
            <a:endParaRPr/>
          </a:p>
        </p:txBody>
      </p:sp>
      <p:sp>
        <p:nvSpPr>
          <p:cNvPr id="979" name="Google Shape;979;p69"/>
          <p:cNvSpPr txBox="1"/>
          <p:nvPr>
            <p:ph idx="1" type="subTitle"/>
          </p:nvPr>
        </p:nvSpPr>
        <p:spPr>
          <a:xfrm>
            <a:off x="115025" y="1368750"/>
            <a:ext cx="8160300" cy="375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Utilization % → shows how much of the tower’s capacity is being used.</a:t>
            </a:r>
            <a:b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</a:b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Latency (ms) → measures delay, increases as towers get congested.</a:t>
            </a:r>
            <a:b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</a:b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Packet loss (%) → % of data packets dropped, impacts browsing/streaming.</a:t>
            </a:r>
            <a:b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</a:b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Dropped call rate (%) → user experience measure, higher when network overloaded.</a:t>
            </a:r>
            <a:b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</a:b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Signal strength (RSRP) → indicates coverage quality from the tower.</a:t>
            </a:r>
            <a:b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</a:b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SINR (Signal-to-Interference + Noise Ratio) → shows how clean the signal is compared to noise and interference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70"/>
          <p:cNvSpPr txBox="1"/>
          <p:nvPr>
            <p:ph idx="1" type="subTitle"/>
          </p:nvPr>
        </p:nvSpPr>
        <p:spPr>
          <a:xfrm>
            <a:off x="115025" y="1136865"/>
            <a:ext cx="8066700" cy="16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Sora Light"/>
              <a:buChar char="●"/>
            </a:pPr>
            <a:r>
              <a:rPr lang="en" sz="1500">
                <a:latin typeface="Sora Light"/>
                <a:ea typeface="Sora Light"/>
                <a:cs typeface="Sora Light"/>
                <a:sym typeface="Sora Light"/>
              </a:rPr>
              <a:t>Mobile networks face uneven traffic distribution across towers</a:t>
            </a:r>
            <a:endParaRPr sz="1500">
              <a:latin typeface="Sora Light"/>
              <a:ea typeface="Sora Light"/>
              <a:cs typeface="Sora Light"/>
              <a:sym typeface="Sora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Sora Light"/>
              <a:buChar char="●"/>
            </a:pPr>
            <a:r>
              <a:rPr lang="en" sz="1500">
                <a:latin typeface="Sora Light"/>
                <a:ea typeface="Sora Light"/>
                <a:cs typeface="Sora Light"/>
                <a:sym typeface="Sora Light"/>
              </a:rPr>
              <a:t>Traditional reactive methods lead to late upgrades</a:t>
            </a:r>
            <a:endParaRPr sz="1500">
              <a:latin typeface="Sora Light"/>
              <a:ea typeface="Sora Light"/>
              <a:cs typeface="Sora Light"/>
              <a:sym typeface="Sora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Sora Light"/>
              <a:buChar char="●"/>
            </a:pPr>
            <a:r>
              <a:rPr lang="en" sz="1500">
                <a:latin typeface="Sora Light"/>
                <a:ea typeface="Sora Light"/>
                <a:cs typeface="Sora Light"/>
                <a:sym typeface="Sora Light"/>
              </a:rPr>
              <a:t>Need predictive models to forecast demand and detect anomalies</a:t>
            </a:r>
            <a:endParaRPr sz="1500">
              <a:latin typeface="Sora Light"/>
              <a:ea typeface="Sora Light"/>
              <a:cs typeface="Sora Light"/>
              <a:sym typeface="Sora Ligh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Sora Light"/>
              <a:buChar char="●"/>
            </a:pPr>
            <a:r>
              <a:rPr lang="en" sz="1500">
                <a:latin typeface="Sora Light"/>
                <a:ea typeface="Sora Light"/>
                <a:cs typeface="Sora Light"/>
                <a:sym typeface="Sora Light"/>
              </a:rPr>
              <a:t>Must identify geographic hotspots for optimized tower placement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85" name="Google Shape;985;p70"/>
          <p:cNvSpPr txBox="1"/>
          <p:nvPr>
            <p:ph idx="2" type="title"/>
          </p:nvPr>
        </p:nvSpPr>
        <p:spPr>
          <a:xfrm>
            <a:off x="68775" y="799225"/>
            <a:ext cx="8846700" cy="933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Problem Statement and Github Link</a:t>
            </a:r>
            <a:endParaRPr sz="3600"/>
          </a:p>
        </p:txBody>
      </p:sp>
      <p:sp>
        <p:nvSpPr>
          <p:cNvPr id="986" name="Google Shape;986;p70"/>
          <p:cNvSpPr txBox="1"/>
          <p:nvPr>
            <p:ph idx="1" type="subTitle"/>
          </p:nvPr>
        </p:nvSpPr>
        <p:spPr>
          <a:xfrm>
            <a:off x="278475" y="2768275"/>
            <a:ext cx="7903200" cy="56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500"/>
              <a:t>Project Link</a:t>
            </a:r>
            <a:r>
              <a:rPr lang="en" sz="1500">
                <a:latin typeface="Sora Light"/>
                <a:ea typeface="Sora Light"/>
                <a:cs typeface="Sora Light"/>
                <a:sym typeface="Sora Light"/>
              </a:rPr>
              <a:t> - </a:t>
            </a:r>
            <a:r>
              <a:rPr lang="en" sz="1500" u="sng">
                <a:solidFill>
                  <a:schemeClr val="hlink"/>
                </a:solidFill>
                <a:latin typeface="Sora Light"/>
                <a:ea typeface="Sora Light"/>
                <a:cs typeface="Sora Light"/>
                <a:sym typeface="Sora Light"/>
                <a:hlinkClick r:id="rId3"/>
              </a:rPr>
              <a:t>https://github.com/gaurav-2408/cell-tower-capacity-planning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71"/>
          <p:cNvSpPr/>
          <p:nvPr/>
        </p:nvSpPr>
        <p:spPr>
          <a:xfrm rot="5400000">
            <a:off x="3301310" y="1176449"/>
            <a:ext cx="538500" cy="7146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050" lIns="102050" spcFirstLastPara="1" rIns="102050" wrap="square" tIns="102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3">
              <a:solidFill>
                <a:schemeClr val="lt1"/>
              </a:solidFill>
            </a:endParaRPr>
          </a:p>
        </p:txBody>
      </p:sp>
      <p:sp>
        <p:nvSpPr>
          <p:cNvPr id="992" name="Google Shape;992;p71"/>
          <p:cNvSpPr/>
          <p:nvPr/>
        </p:nvSpPr>
        <p:spPr>
          <a:xfrm rot="5400000">
            <a:off x="1068216" y="1176449"/>
            <a:ext cx="538500" cy="7146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050" lIns="102050" spcFirstLastPara="1" rIns="102050" wrap="square" tIns="102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3">
              <a:solidFill>
                <a:schemeClr val="lt1"/>
              </a:solidFill>
            </a:endParaRPr>
          </a:p>
        </p:txBody>
      </p:sp>
      <p:sp>
        <p:nvSpPr>
          <p:cNvPr id="993" name="Google Shape;993;p71"/>
          <p:cNvSpPr/>
          <p:nvPr/>
        </p:nvSpPr>
        <p:spPr>
          <a:xfrm rot="5400000">
            <a:off x="5664353" y="1176449"/>
            <a:ext cx="538500" cy="7146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050" lIns="102050" spcFirstLastPara="1" rIns="102050" wrap="square" tIns="102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3">
              <a:solidFill>
                <a:schemeClr val="lt1"/>
              </a:solidFill>
            </a:endParaRPr>
          </a:p>
        </p:txBody>
      </p:sp>
      <p:sp>
        <p:nvSpPr>
          <p:cNvPr id="994" name="Google Shape;994;p71"/>
          <p:cNvSpPr txBox="1"/>
          <p:nvPr>
            <p:ph type="title"/>
          </p:nvPr>
        </p:nvSpPr>
        <p:spPr>
          <a:xfrm>
            <a:off x="829374" y="1888029"/>
            <a:ext cx="1767300" cy="580500"/>
          </a:xfrm>
          <a:prstGeom prst="rect">
            <a:avLst/>
          </a:prstGeom>
        </p:spPr>
        <p:txBody>
          <a:bodyPr anchorCtr="0" anchor="b" bIns="102050" lIns="102050" spcFirstLastPara="1" rIns="102050" wrap="square" tIns="102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9"/>
              <a:t>Time-Series Forecasting</a:t>
            </a:r>
            <a:endParaRPr sz="1339"/>
          </a:p>
        </p:txBody>
      </p:sp>
      <p:sp>
        <p:nvSpPr>
          <p:cNvPr id="995" name="Google Shape;995;p71"/>
          <p:cNvSpPr txBox="1"/>
          <p:nvPr>
            <p:ph idx="2" type="title"/>
          </p:nvPr>
        </p:nvSpPr>
        <p:spPr>
          <a:xfrm>
            <a:off x="3048000" y="1893248"/>
            <a:ext cx="1767300" cy="380400"/>
          </a:xfrm>
          <a:prstGeom prst="rect">
            <a:avLst/>
          </a:prstGeom>
        </p:spPr>
        <p:txBody>
          <a:bodyPr anchorCtr="0" anchor="b" bIns="102050" lIns="102050" spcFirstLastPara="1" rIns="102050" wrap="square" tIns="102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9"/>
              <a:t>Anomaly Detection</a:t>
            </a:r>
            <a:endParaRPr sz="1339"/>
          </a:p>
        </p:txBody>
      </p:sp>
      <p:sp>
        <p:nvSpPr>
          <p:cNvPr id="996" name="Google Shape;996;p71"/>
          <p:cNvSpPr txBox="1"/>
          <p:nvPr>
            <p:ph idx="3" type="title"/>
          </p:nvPr>
        </p:nvSpPr>
        <p:spPr>
          <a:xfrm>
            <a:off x="5266611" y="1881312"/>
            <a:ext cx="1767300" cy="580500"/>
          </a:xfrm>
          <a:prstGeom prst="rect">
            <a:avLst/>
          </a:prstGeom>
        </p:spPr>
        <p:txBody>
          <a:bodyPr anchorCtr="0" anchor="b" bIns="102050" lIns="102050" spcFirstLastPara="1" rIns="102050" wrap="square" tIns="102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9"/>
              <a:t>Object Clustering &amp; Geospatial Analysis</a:t>
            </a:r>
            <a:endParaRPr sz="1339"/>
          </a:p>
        </p:txBody>
      </p:sp>
      <p:sp>
        <p:nvSpPr>
          <p:cNvPr id="997" name="Google Shape;997;p71"/>
          <p:cNvSpPr txBox="1"/>
          <p:nvPr>
            <p:ph idx="17" type="title"/>
          </p:nvPr>
        </p:nvSpPr>
        <p:spPr>
          <a:xfrm>
            <a:off x="156873" y="228600"/>
            <a:ext cx="6549000" cy="879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Methodology</a:t>
            </a:r>
            <a:endParaRPr sz="3600"/>
          </a:p>
        </p:txBody>
      </p:sp>
      <p:sp>
        <p:nvSpPr>
          <p:cNvPr id="998" name="Google Shape;998;p71"/>
          <p:cNvSpPr txBox="1"/>
          <p:nvPr>
            <p:ph idx="6" type="body"/>
          </p:nvPr>
        </p:nvSpPr>
        <p:spPr>
          <a:xfrm>
            <a:off x="829430" y="2468657"/>
            <a:ext cx="1767300" cy="1868700"/>
          </a:xfrm>
          <a:prstGeom prst="rect">
            <a:avLst/>
          </a:prstGeom>
        </p:spPr>
        <p:txBody>
          <a:bodyPr anchorCtr="0" anchor="t" bIns="102050" lIns="102050" spcFirstLastPara="1" rIns="102050" wrap="square" tIns="1020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6"/>
              <a:t>Predict future tower traffic</a:t>
            </a:r>
            <a:endParaRPr sz="111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6"/>
              <a:t> </a:t>
            </a:r>
            <a:endParaRPr sz="111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6"/>
              <a:t>- Seasonal Naive, Prophet, Linear Autoregression</a:t>
            </a:r>
            <a:endParaRPr sz="111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6"/>
          </a:p>
        </p:txBody>
      </p:sp>
      <p:sp>
        <p:nvSpPr>
          <p:cNvPr id="999" name="Google Shape;999;p71"/>
          <p:cNvSpPr txBox="1"/>
          <p:nvPr>
            <p:ph idx="7" type="body"/>
          </p:nvPr>
        </p:nvSpPr>
        <p:spPr>
          <a:xfrm>
            <a:off x="3048000" y="2481558"/>
            <a:ext cx="1767300" cy="1868700"/>
          </a:xfrm>
          <a:prstGeom prst="rect">
            <a:avLst/>
          </a:prstGeom>
        </p:spPr>
        <p:txBody>
          <a:bodyPr anchorCtr="0" anchor="t" bIns="102050" lIns="102050" spcFirstLastPara="1" rIns="102050" wrap="square" tIns="1020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6"/>
              <a:t>Spot sudden spikes or drops</a:t>
            </a:r>
            <a:endParaRPr sz="1116"/>
          </a:p>
          <a:p>
            <a:pPr indent="0" lvl="0" marL="0" rtl="0" algn="l">
              <a:spcBef>
                <a:spcPts val="893"/>
              </a:spcBef>
              <a:spcAft>
                <a:spcPts val="0"/>
              </a:spcAft>
              <a:buNone/>
            </a:pPr>
            <a:r>
              <a:rPr lang="en" sz="1116"/>
              <a:t> - Isolation Forest, Autoencoders</a:t>
            </a:r>
            <a:endParaRPr sz="1116"/>
          </a:p>
          <a:p>
            <a:pPr indent="0" lvl="0" marL="0" rtl="0" algn="l">
              <a:spcBef>
                <a:spcPts val="893"/>
              </a:spcBef>
              <a:spcAft>
                <a:spcPts val="0"/>
              </a:spcAft>
              <a:buNone/>
            </a:pPr>
            <a:r>
              <a:t/>
            </a:r>
            <a:endParaRPr sz="1116"/>
          </a:p>
          <a:p>
            <a:pPr indent="0" lvl="0" marL="0" rtl="0" algn="l">
              <a:spcBef>
                <a:spcPts val="893"/>
              </a:spcBef>
              <a:spcAft>
                <a:spcPts val="893"/>
              </a:spcAft>
              <a:buNone/>
            </a:pPr>
            <a:r>
              <a:t/>
            </a:r>
            <a:endParaRPr sz="1116"/>
          </a:p>
        </p:txBody>
      </p:sp>
      <p:sp>
        <p:nvSpPr>
          <p:cNvPr id="1000" name="Google Shape;1000;p71"/>
          <p:cNvSpPr txBox="1"/>
          <p:nvPr>
            <p:ph idx="8" type="body"/>
          </p:nvPr>
        </p:nvSpPr>
        <p:spPr>
          <a:xfrm>
            <a:off x="5266611" y="2468646"/>
            <a:ext cx="1767300" cy="1868700"/>
          </a:xfrm>
          <a:prstGeom prst="rect">
            <a:avLst/>
          </a:prstGeom>
        </p:spPr>
        <p:txBody>
          <a:bodyPr anchorCtr="0" anchor="t" bIns="102050" lIns="102050" spcFirstLastPara="1" rIns="102050" wrap="square" tIns="1020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6"/>
              <a:t>Group towers, find hotspots</a:t>
            </a:r>
            <a:endParaRPr sz="111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16"/>
              <a:t> - K-Means, DBSCAN, Hexbin maps</a:t>
            </a:r>
            <a:endParaRPr sz="111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6"/>
          </a:p>
        </p:txBody>
      </p:sp>
      <p:sp>
        <p:nvSpPr>
          <p:cNvPr id="1001" name="Google Shape;1001;p71"/>
          <p:cNvSpPr txBox="1"/>
          <p:nvPr>
            <p:ph idx="13" type="title"/>
          </p:nvPr>
        </p:nvSpPr>
        <p:spPr>
          <a:xfrm>
            <a:off x="980196" y="1264513"/>
            <a:ext cx="714600" cy="538500"/>
          </a:xfrm>
          <a:prstGeom prst="rect">
            <a:avLst/>
          </a:prstGeom>
        </p:spPr>
        <p:txBody>
          <a:bodyPr anchorCtr="0" anchor="t" bIns="102050" lIns="102050" spcFirstLastPara="1" rIns="102050" wrap="square" tIns="102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9"/>
              <a:t>1</a:t>
            </a:r>
            <a:endParaRPr sz="2009"/>
          </a:p>
        </p:txBody>
      </p:sp>
      <p:sp>
        <p:nvSpPr>
          <p:cNvPr id="1002" name="Google Shape;1002;p71"/>
          <p:cNvSpPr txBox="1"/>
          <p:nvPr>
            <p:ph idx="14" type="title"/>
          </p:nvPr>
        </p:nvSpPr>
        <p:spPr>
          <a:xfrm>
            <a:off x="3213304" y="1264513"/>
            <a:ext cx="714600" cy="538500"/>
          </a:xfrm>
          <a:prstGeom prst="rect">
            <a:avLst/>
          </a:prstGeom>
        </p:spPr>
        <p:txBody>
          <a:bodyPr anchorCtr="0" anchor="t" bIns="102050" lIns="102050" spcFirstLastPara="1" rIns="102050" wrap="square" tIns="102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9"/>
              <a:t>2</a:t>
            </a:r>
            <a:endParaRPr sz="2009"/>
          </a:p>
        </p:txBody>
      </p:sp>
      <p:sp>
        <p:nvSpPr>
          <p:cNvPr id="1003" name="Google Shape;1003;p71"/>
          <p:cNvSpPr txBox="1"/>
          <p:nvPr>
            <p:ph idx="15" type="title"/>
          </p:nvPr>
        </p:nvSpPr>
        <p:spPr>
          <a:xfrm>
            <a:off x="5576333" y="1264513"/>
            <a:ext cx="714600" cy="538500"/>
          </a:xfrm>
          <a:prstGeom prst="rect">
            <a:avLst/>
          </a:prstGeom>
        </p:spPr>
        <p:txBody>
          <a:bodyPr anchorCtr="0" anchor="t" bIns="102050" lIns="102050" spcFirstLastPara="1" rIns="102050" wrap="square" tIns="102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9"/>
              <a:t>3</a:t>
            </a:r>
            <a:endParaRPr sz="2009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72"/>
          <p:cNvSpPr txBox="1"/>
          <p:nvPr>
            <p:ph idx="1" type="subTitle"/>
          </p:nvPr>
        </p:nvSpPr>
        <p:spPr>
          <a:xfrm>
            <a:off x="115025" y="1570200"/>
            <a:ext cx="8073000" cy="33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Sora"/>
                <a:ea typeface="Sora"/>
                <a:cs typeface="Sora"/>
                <a:sym typeface="Sora"/>
              </a:rPr>
              <a:t>Problems &amp; Approach</a:t>
            </a:r>
            <a:endParaRPr b="1" sz="1600"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Sora"/>
              <a:buChar char="●"/>
            </a:pPr>
            <a:r>
              <a:rPr b="1" lang="en">
                <a:latin typeface="Sora"/>
                <a:ea typeface="Sora"/>
                <a:cs typeface="Sora"/>
                <a:sym typeface="Sora"/>
              </a:rPr>
              <a:t>Cell tower traffic fluctuates over time → </a:t>
            </a:r>
            <a:r>
              <a:rPr lang="en"/>
              <a:t>risk of overload or under-utilization.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Sora"/>
              <a:buChar char="●"/>
            </a:pPr>
            <a:r>
              <a:rPr b="1" lang="en">
                <a:latin typeface="Sora"/>
                <a:ea typeface="Sora"/>
                <a:cs typeface="Sora"/>
                <a:sym typeface="Sora"/>
              </a:rPr>
              <a:t>We use time-series forecasting to predict future traffic patterns at the beam (cell tower channel) level.</a:t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Sora"/>
              <a:buChar char="●"/>
            </a:pPr>
            <a:r>
              <a:rPr b="1" lang="en">
                <a:latin typeface="Sora"/>
                <a:ea typeface="Sora"/>
                <a:cs typeface="Sora"/>
                <a:sym typeface="Sora"/>
              </a:rPr>
              <a:t>Dataset: </a:t>
            </a:r>
            <a:r>
              <a:rPr lang="en"/>
              <a:t>Beam-level traffic data (split into train weeks and test weeks).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Sora"/>
              <a:buChar char="●"/>
            </a:pPr>
            <a:r>
              <a:rPr b="1" lang="en">
                <a:latin typeface="Sora"/>
                <a:ea typeface="Sora"/>
                <a:cs typeface="Sora"/>
                <a:sym typeface="Sora"/>
              </a:rPr>
              <a:t>Models tested:</a:t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Sora"/>
              <a:buChar char="●"/>
            </a:pPr>
            <a:r>
              <a:rPr b="1" lang="en">
                <a:latin typeface="Sora"/>
                <a:ea typeface="Sora"/>
                <a:cs typeface="Sora"/>
                <a:sym typeface="Sora"/>
              </a:rPr>
              <a:t>Seasonal Naive (simple baseline, repeats last week’s pattern).</a:t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Sora"/>
              <a:buChar char="●"/>
            </a:pPr>
            <a:r>
              <a:rPr b="1" lang="en">
                <a:latin typeface="Sora"/>
                <a:ea typeface="Sora"/>
                <a:cs typeface="Sora"/>
                <a:sym typeface="Sora"/>
              </a:rPr>
              <a:t>Prophet (captures trend + daily/weekly seasonality).</a:t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Sora"/>
              <a:buChar char="●"/>
            </a:pPr>
            <a:r>
              <a:rPr b="1" lang="en">
                <a:latin typeface="Sora"/>
                <a:ea typeface="Sora"/>
                <a:cs typeface="Sora"/>
                <a:sym typeface="Sora"/>
              </a:rPr>
              <a:t>Linear Autoregression (AR) (uses past values + time features).</a:t>
            </a:r>
            <a:endParaRPr b="1" sz="1600"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009" name="Google Shape;1009;p72"/>
          <p:cNvSpPr txBox="1"/>
          <p:nvPr>
            <p:ph idx="4294967295" type="title"/>
          </p:nvPr>
        </p:nvSpPr>
        <p:spPr>
          <a:xfrm>
            <a:off x="168800" y="180200"/>
            <a:ext cx="7395900" cy="14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Cell Tower Capacity Forecasting : Time Series Approach</a:t>
            </a:r>
            <a:endParaRPr b="1"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73"/>
          <p:cNvSpPr txBox="1"/>
          <p:nvPr>
            <p:ph idx="4294967295" type="title"/>
          </p:nvPr>
        </p:nvSpPr>
        <p:spPr>
          <a:xfrm>
            <a:off x="168800" y="180200"/>
            <a:ext cx="7395900" cy="14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Cell Tower Capacity Forecasting : </a:t>
            </a:r>
            <a:r>
              <a:rPr b="1" lang="en" sz="3400"/>
              <a:t>Time Series Approach</a:t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73"/>
          <p:cNvSpPr txBox="1"/>
          <p:nvPr>
            <p:ph idx="1" type="subTitle"/>
          </p:nvPr>
        </p:nvSpPr>
        <p:spPr>
          <a:xfrm>
            <a:off x="115025" y="1336300"/>
            <a:ext cx="63474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Sora"/>
                <a:ea typeface="Sora"/>
                <a:cs typeface="Sora"/>
                <a:sym typeface="Sora"/>
              </a:rPr>
              <a:t>Workflow &amp; Evaluation</a:t>
            </a:r>
            <a:endParaRPr b="1" sz="1600"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Sora"/>
              <a:buChar char="●"/>
            </a:pPr>
            <a:r>
              <a:rPr b="1" lang="en">
                <a:latin typeface="Sora"/>
                <a:ea typeface="Sora"/>
                <a:cs typeface="Sora"/>
                <a:sym typeface="Sora"/>
              </a:rPr>
              <a:t>Step 1: Data check (</a:t>
            </a:r>
            <a:r>
              <a:rPr b="1" lang="en">
                <a:solidFill>
                  <a:srgbClr val="6D9EEB"/>
                </a:solidFill>
                <a:latin typeface="Sora"/>
                <a:ea typeface="Sora"/>
                <a:cs typeface="Sora"/>
                <a:sym typeface="Sora"/>
              </a:rPr>
              <a:t>decode_as_entries.py</a:t>
            </a:r>
            <a:r>
              <a:rPr b="1" lang="en">
                <a:latin typeface="Sora"/>
                <a:ea typeface="Sora"/>
                <a:cs typeface="Sora"/>
                <a:sym typeface="Sora"/>
              </a:rPr>
              <a:t>) → ensures dataset availability.</a:t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Sora"/>
              <a:buChar char="●"/>
            </a:pPr>
            <a:r>
              <a:rPr b="1" lang="en">
                <a:latin typeface="Sora"/>
                <a:ea typeface="Sora"/>
                <a:cs typeface="Sora"/>
                <a:sym typeface="Sora"/>
              </a:rPr>
              <a:t>Step 2: Model training + forecasting </a:t>
            </a:r>
            <a:r>
              <a:rPr b="1" lang="en">
                <a:solidFill>
                  <a:srgbClr val="6D9EEB"/>
                </a:solidFill>
                <a:latin typeface="Sora"/>
                <a:ea typeface="Sora"/>
                <a:cs typeface="Sora"/>
                <a:sym typeface="Sora"/>
              </a:rPr>
              <a:t>(seasonal_naive_forecast.py</a:t>
            </a:r>
            <a:r>
              <a:rPr b="1" lang="en">
                <a:latin typeface="Sora"/>
                <a:ea typeface="Sora"/>
                <a:cs typeface="Sora"/>
                <a:sym typeface="Sora"/>
              </a:rPr>
              <a:t>).</a:t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Sora"/>
              <a:buChar char="●"/>
            </a:pPr>
            <a:r>
              <a:rPr b="1" lang="en">
                <a:latin typeface="Sora"/>
                <a:ea typeface="Sora"/>
                <a:cs typeface="Sora"/>
                <a:sym typeface="Sora"/>
              </a:rPr>
              <a:t>Step 3: Unified evaluation </a:t>
            </a:r>
            <a:r>
              <a:rPr b="1" lang="en">
                <a:solidFill>
                  <a:srgbClr val="6D9EEB"/>
                </a:solidFill>
                <a:latin typeface="Sora"/>
                <a:ea typeface="Sora"/>
                <a:cs typeface="Sora"/>
                <a:sym typeface="Sora"/>
              </a:rPr>
              <a:t>(predict_accuracy.py</a:t>
            </a:r>
            <a:r>
              <a:rPr b="1" lang="en">
                <a:latin typeface="Sora"/>
                <a:ea typeface="Sora"/>
                <a:cs typeface="Sora"/>
                <a:sym typeface="Sora"/>
              </a:rPr>
              <a:t>) → compares all models.</a:t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Sora"/>
              <a:buChar char="●"/>
            </a:pPr>
            <a:r>
              <a:rPr b="1" lang="en">
                <a:latin typeface="Sora"/>
                <a:ea typeface="Sora"/>
                <a:cs typeface="Sora"/>
                <a:sym typeface="Sora"/>
              </a:rPr>
              <a:t>Metrics: </a:t>
            </a:r>
            <a:r>
              <a:rPr b="1" lang="en">
                <a:solidFill>
                  <a:srgbClr val="6D9EEB"/>
                </a:solidFill>
                <a:latin typeface="Sora"/>
                <a:ea typeface="Sora"/>
                <a:cs typeface="Sora"/>
                <a:sym typeface="Sora"/>
              </a:rPr>
              <a:t>MAE, RMSE, WAPE, sWAPE, Median AE.</a:t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Sora"/>
              <a:buChar char="●"/>
            </a:pPr>
            <a:r>
              <a:rPr b="1" lang="en">
                <a:latin typeface="Sora"/>
                <a:ea typeface="Sora"/>
                <a:cs typeface="Sora"/>
                <a:sym typeface="Sora"/>
              </a:rPr>
              <a:t>Outcome:</a:t>
            </a:r>
            <a:r>
              <a:rPr b="1" lang="en">
                <a:solidFill>
                  <a:srgbClr val="6D9EEB"/>
                </a:solidFill>
                <a:latin typeface="Sora"/>
                <a:ea typeface="Sora"/>
                <a:cs typeface="Sora"/>
                <a:sym typeface="Sora"/>
              </a:rPr>
              <a:t> Identifies the most accurate forecasting approach for network planning.</a:t>
            </a:r>
            <a:endParaRPr b="1">
              <a:solidFill>
                <a:srgbClr val="6D9EEB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74"/>
          <p:cNvSpPr txBox="1"/>
          <p:nvPr>
            <p:ph idx="4294967295" type="title"/>
          </p:nvPr>
        </p:nvSpPr>
        <p:spPr>
          <a:xfrm>
            <a:off x="181500" y="71925"/>
            <a:ext cx="8874900" cy="14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Cell Tower Capacity Forecasting : </a:t>
            </a:r>
            <a:r>
              <a:rPr b="1" lang="en" sz="3400"/>
              <a:t>Actual v/s Predicted For week 06</a:t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74"/>
          <p:cNvSpPr txBox="1"/>
          <p:nvPr>
            <p:ph idx="1" type="subTitle"/>
          </p:nvPr>
        </p:nvSpPr>
        <p:spPr>
          <a:xfrm>
            <a:off x="115025" y="1227425"/>
            <a:ext cx="4410000" cy="38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D9EEB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022" name="Google Shape;1022;p74" title="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1227425"/>
            <a:ext cx="4191201" cy="380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74"/>
          <p:cNvSpPr txBox="1"/>
          <p:nvPr>
            <p:ph idx="1" type="subTitle"/>
          </p:nvPr>
        </p:nvSpPr>
        <p:spPr>
          <a:xfrm>
            <a:off x="4597800" y="1227425"/>
            <a:ext cx="4410000" cy="38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Sora Light"/>
              <a:buChar char="●"/>
            </a:pPr>
            <a:r>
              <a:rPr lang="en" sz="1300"/>
              <a:t>Axes:</a:t>
            </a:r>
            <a:endParaRPr sz="1300"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Sora Light"/>
              <a:buChar char="●"/>
            </a:pPr>
            <a:r>
              <a:rPr lang="en" sz="1300"/>
              <a:t>X: Actual value</a:t>
            </a:r>
            <a:endParaRPr sz="1300"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Sora Light"/>
              <a:buChar char="●"/>
            </a:pPr>
            <a:r>
              <a:rPr lang="en" sz="1300"/>
              <a:t>Y: Predicted value</a:t>
            </a:r>
            <a:endParaRPr sz="1300"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Sora Light"/>
              <a:buChar char="●"/>
            </a:pPr>
            <a:r>
              <a:rPr lang="en" sz="1300"/>
              <a:t>Red dashed line y = x: perfect predictions</a:t>
            </a:r>
            <a:endParaRPr sz="1300"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Sora Light"/>
              <a:buChar char="●"/>
            </a:pPr>
            <a:r>
              <a:rPr lang="en" sz="1300"/>
              <a:t>Colorbar: count of points in each hex</a:t>
            </a:r>
            <a:endParaRPr sz="1300"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Sora Light"/>
              <a:buChar char="●"/>
            </a:pPr>
            <a:r>
              <a:rPr lang="en" sz="1300"/>
              <a:t>Points on the red line → perfect; above → overprediction; below → underprediction.</a:t>
            </a:r>
            <a:endParaRPr sz="1300"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Sora Light"/>
              <a:buChar char="●"/>
            </a:pPr>
            <a:r>
              <a:rPr lang="en" sz="1300"/>
              <a:t>Most density is near actual ≈ 0, with many predictions above the line there → the model tends to overpredict at low actuals.</a:t>
            </a:r>
            <a:endParaRPr sz="1300"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Sora Light"/>
              <a:buChar char="●"/>
            </a:pPr>
            <a:r>
              <a:rPr lang="en" sz="1300"/>
              <a:t>A few higher-actual points spread out; overall scatter is wide, explaining large percent errors despite modest absolute errors.</a:t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D9EEB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75"/>
          <p:cNvSpPr txBox="1"/>
          <p:nvPr>
            <p:ph idx="4294967295" type="title"/>
          </p:nvPr>
        </p:nvSpPr>
        <p:spPr>
          <a:xfrm>
            <a:off x="181500" y="71925"/>
            <a:ext cx="88083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Cell Tower Capacity Forecasting :</a:t>
            </a:r>
            <a:r>
              <a:rPr lang="en" sz="3400"/>
              <a:t> </a:t>
            </a:r>
            <a:r>
              <a:rPr b="1" lang="en" sz="2800"/>
              <a:t>Benchmark Results Summary by Performance Indicator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29" name="Google Shape;1029;p75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{7CA1D3D0-9E49-4337-B3BE-B1C12DB1DF66}</a:tableStyleId>
              </a:tblPr>
              <a:tblGrid>
                <a:gridCol w="1400175"/>
              </a:tblGrid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30" name="Google Shape;1030;p75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{7CA1D3D0-9E49-4337-B3BE-B1C12DB1DF66}</a:tableStyleId>
              </a:tblPr>
              <a:tblGrid>
                <a:gridCol w="1400175"/>
              </a:tblGrid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031" name="Google Shape;1031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5717" y="1611850"/>
            <a:ext cx="7466464" cy="326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76"/>
          <p:cNvSpPr txBox="1"/>
          <p:nvPr>
            <p:ph idx="4294967295" type="title"/>
          </p:nvPr>
        </p:nvSpPr>
        <p:spPr>
          <a:xfrm>
            <a:off x="181500" y="71925"/>
            <a:ext cx="88083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Cell Tower Capacity Forecasting :</a:t>
            </a:r>
            <a:r>
              <a:rPr lang="en" sz="3400"/>
              <a:t> </a:t>
            </a:r>
            <a:r>
              <a:rPr b="1" lang="en" sz="2800"/>
              <a:t>Benchmark results Summary by Model</a:t>
            </a:r>
            <a:endParaRPr b="1"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37" name="Google Shape;1037;p76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{7CA1D3D0-9E49-4337-B3BE-B1C12DB1DF66}</a:tableStyleId>
              </a:tblPr>
              <a:tblGrid>
                <a:gridCol w="1400175"/>
              </a:tblGrid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38" name="Google Shape;1038;p76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{7CA1D3D0-9E49-4337-B3BE-B1C12DB1DF66}</a:tableStyleId>
              </a:tblPr>
              <a:tblGrid>
                <a:gridCol w="1400175"/>
              </a:tblGrid>
              <a:tr h="18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039" name="Google Shape;1039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550" y="1227525"/>
            <a:ext cx="8874901" cy="150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76"/>
          <p:cNvSpPr txBox="1"/>
          <p:nvPr>
            <p:ph idx="1" type="subTitle"/>
          </p:nvPr>
        </p:nvSpPr>
        <p:spPr>
          <a:xfrm>
            <a:off x="132900" y="2082875"/>
            <a:ext cx="8874900" cy="29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>
                <a:latin typeface="Sora"/>
                <a:ea typeface="Sora"/>
                <a:cs typeface="Sora"/>
                <a:sym typeface="Sora"/>
              </a:rPr>
              <a:t>MAE	Mean Absolute Error</a:t>
            </a:r>
            <a:r>
              <a:rPr lang="en"/>
              <a:t> – lower is better.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>
                <a:latin typeface="Sora"/>
                <a:ea typeface="Sora"/>
                <a:cs typeface="Sora"/>
                <a:sym typeface="Sora"/>
              </a:rPr>
              <a:t>Median_AE	Median Absolute Error</a:t>
            </a:r>
            <a:r>
              <a:rPr lang="en"/>
              <a:t> – less sensitive to outliers, lower is better.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>
                <a:latin typeface="Sora"/>
                <a:ea typeface="Sora"/>
                <a:cs typeface="Sora"/>
                <a:sym typeface="Sora"/>
              </a:rPr>
              <a:t>RMSE	Root Mean Squared Error</a:t>
            </a:r>
            <a:r>
              <a:rPr lang="en"/>
              <a:t> – penalizes large errors more, lower is better.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>
                <a:latin typeface="Sora"/>
                <a:ea typeface="Sora"/>
                <a:cs typeface="Sora"/>
                <a:sym typeface="Sora"/>
              </a:rPr>
              <a:t>WAPE_percent	Weighted Absolute Percentage Error</a:t>
            </a:r>
            <a:r>
              <a:rPr lang="en"/>
              <a:t> – a percentage version of MAE, lower is better.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n">
                <a:latin typeface="Sora"/>
                <a:ea typeface="Sora"/>
                <a:cs typeface="Sora"/>
                <a:sym typeface="Sora"/>
              </a:rPr>
              <a:t>sWAPE_percent	Symmetric WAPE</a:t>
            </a:r>
            <a:r>
              <a:rPr lang="en"/>
              <a:t> – similar to WAPE but normalized, lower is better.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MASE	Mean Absolute Scaled Error – compares model error to a naive forecast; &lt;1 means model is better than naive.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 from the Table: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Sora"/>
              <a:buChar char="●"/>
            </a:pPr>
            <a:r>
              <a:rPr b="1" lang="en">
                <a:latin typeface="Sora"/>
                <a:ea typeface="Sora"/>
                <a:cs typeface="Sora"/>
                <a:sym typeface="Sora"/>
              </a:rPr>
              <a:t>Linear AR model has the lowest MAE, RMSE, and MASE (&lt;1) → best performing model overall.</a:t>
            </a:r>
            <a:endParaRPr b="1">
              <a:latin typeface="Sora"/>
              <a:ea typeface="Sora"/>
              <a:cs typeface="Sora"/>
              <a:sym typeface="S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Seasonal model is slightly worse than Linear AR but still much better than Prophet (especially on MASE).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Prophet model shows the highest error across all metrics (WAPE &gt; 300%, MASE ~2.9) → worst performing model.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77"/>
          <p:cNvSpPr txBox="1"/>
          <p:nvPr>
            <p:ph type="title"/>
          </p:nvPr>
        </p:nvSpPr>
        <p:spPr>
          <a:xfrm>
            <a:off x="115025" y="502775"/>
            <a:ext cx="4183800" cy="11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Anomaly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Detection</a:t>
            </a:r>
            <a:endParaRPr/>
          </a:p>
        </p:txBody>
      </p:sp>
      <p:sp>
        <p:nvSpPr>
          <p:cNvPr id="1046" name="Google Shape;1046;p77"/>
          <p:cNvSpPr txBox="1"/>
          <p:nvPr>
            <p:ph idx="1" type="body"/>
          </p:nvPr>
        </p:nvSpPr>
        <p:spPr>
          <a:xfrm>
            <a:off x="3480275" y="38390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Detects unusual spikes/drops in usage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Techniques: Isolation Forest, Autoencoders, Z-Score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Identifies outages, events (concerts, emergencies)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Char char="●"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Prevents disruptions with early alerts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78"/>
          <p:cNvSpPr txBox="1"/>
          <p:nvPr>
            <p:ph type="title"/>
          </p:nvPr>
        </p:nvSpPr>
        <p:spPr>
          <a:xfrm>
            <a:off x="0" y="0"/>
            <a:ext cx="3758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Details</a:t>
            </a:r>
            <a:endParaRPr/>
          </a:p>
        </p:txBody>
      </p:sp>
      <p:sp>
        <p:nvSpPr>
          <p:cNvPr id="1052" name="Google Shape;1052;p78"/>
          <p:cNvSpPr txBox="1"/>
          <p:nvPr>
            <p:ph idx="1" type="body"/>
          </p:nvPr>
        </p:nvSpPr>
        <p:spPr>
          <a:xfrm>
            <a:off x="6339050" y="228600"/>
            <a:ext cx="2715000" cy="46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Hourly call traffic with a dramatic drop from 30k to 15k calls, followed by partial recovery reveals when network experiences traffic surges and drops, forming the basis for volume-based anomaly detection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Inverse relationship between call volume and success rate shows network congestion and capacity issues during peak periods.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Revenue fluctuations directly correlate with traffic patterns, indicating business impact of network performance issues.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3" name="Google Shape;1053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75" y="663813"/>
            <a:ext cx="2743200" cy="275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4" name="Google Shape;1054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6315" y="124575"/>
            <a:ext cx="2345100" cy="228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62250" y="2512520"/>
            <a:ext cx="2456200" cy="256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79"/>
          <p:cNvSpPr txBox="1"/>
          <p:nvPr>
            <p:ph type="title"/>
          </p:nvPr>
        </p:nvSpPr>
        <p:spPr>
          <a:xfrm>
            <a:off x="115025" y="115500"/>
            <a:ext cx="41838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Z-score Anomalies</a:t>
            </a:r>
            <a:endParaRPr/>
          </a:p>
        </p:txBody>
      </p:sp>
      <p:sp>
        <p:nvSpPr>
          <p:cNvPr id="1061" name="Google Shape;1061;p79"/>
          <p:cNvSpPr txBox="1"/>
          <p:nvPr>
            <p:ph idx="1" type="body"/>
          </p:nvPr>
        </p:nvSpPr>
        <p:spPr>
          <a:xfrm>
            <a:off x="4838375" y="228600"/>
            <a:ext cx="4183800" cy="25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Z-Score threshold = 2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0 anomalies found data is very consistent patterns with no extreme outliers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Reason: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○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Very stable network performance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○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Limited time range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Z-Score threshold = 1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Z-Score (40%): Most sensitive, catches moderate deviations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pic>
        <p:nvPicPr>
          <p:cNvPr id="1062" name="Google Shape;1062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025" y="849654"/>
            <a:ext cx="3571875" cy="1651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3" name="Google Shape;1063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025" y="2613900"/>
            <a:ext cx="3571875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80"/>
          <p:cNvSpPr txBox="1"/>
          <p:nvPr>
            <p:ph type="title"/>
          </p:nvPr>
        </p:nvSpPr>
        <p:spPr>
          <a:xfrm>
            <a:off x="115025" y="228600"/>
            <a:ext cx="4740900" cy="11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Comprehensive Results - </a:t>
            </a:r>
            <a:endParaRPr/>
          </a:p>
        </p:txBody>
      </p:sp>
      <p:sp>
        <p:nvSpPr>
          <p:cNvPr id="1069" name="Google Shape;1069;p80"/>
          <p:cNvSpPr txBox="1"/>
          <p:nvPr>
            <p:ph idx="1" type="body"/>
          </p:nvPr>
        </p:nvSpPr>
        <p:spPr>
          <a:xfrm>
            <a:off x="4719150" y="228600"/>
            <a:ext cx="4371600" cy="3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Isolation Forest anomalies: 1 (20.00%)</a:t>
            </a:r>
            <a:b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Flagged one period (20%) as an outlier based on how “isolated” its multivariate feature values are.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Autoencoder anomalies: 1 (20.00%)</a:t>
            </a:r>
            <a:b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autoencoder identified one period where reconstruction error exceeded the threshold, signaling a pattern break.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Combined anomalies (any method): 2 (40.00%)</a:t>
            </a:r>
            <a:b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Across all three techniques, two unique periods were flagged by at least one method.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Consensus anomalies (2+ methods): 1 (20.00%)</a:t>
            </a:r>
            <a:b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Only one period was flagged by two or more methods, giving you highest confidence that it truly represents an anomaly.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pic>
        <p:nvPicPr>
          <p:cNvPr id="1070" name="Google Shape;1070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00" y="1615127"/>
            <a:ext cx="4788725" cy="1861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81"/>
          <p:cNvSpPr txBox="1"/>
          <p:nvPr>
            <p:ph type="title"/>
          </p:nvPr>
        </p:nvSpPr>
        <p:spPr>
          <a:xfrm>
            <a:off x="115025" y="228600"/>
            <a:ext cx="47409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Anomaly Results</a:t>
            </a:r>
            <a:endParaRPr/>
          </a:p>
        </p:txBody>
      </p:sp>
      <p:sp>
        <p:nvSpPr>
          <p:cNvPr id="1076" name="Google Shape;1076;p81"/>
          <p:cNvSpPr txBox="1"/>
          <p:nvPr>
            <p:ph idx="1" type="body"/>
          </p:nvPr>
        </p:nvSpPr>
        <p:spPr>
          <a:xfrm>
            <a:off x="4922275" y="228600"/>
            <a:ext cx="4168500" cy="32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Multiple anomaly detection methods (Z-Score, Isolation Forest, Autoencoder) flagged abnormal behavior in call volume, success rate, and revenue.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first row  -  Z-Score method only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second row -  All three methods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Business Impact: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lphaLcPeriod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low success rates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lphaLcPeriod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notable revenue drops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Z-Score threshold defines how strict or lenient the model is when defining a data point as “anomalous”.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77" name="Google Shape;1077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38" y="1382827"/>
            <a:ext cx="4788725" cy="1861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8" name="Google Shape;1078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00" y="4115684"/>
            <a:ext cx="9023549" cy="482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82"/>
          <p:cNvSpPr txBox="1"/>
          <p:nvPr>
            <p:ph type="title"/>
          </p:nvPr>
        </p:nvSpPr>
        <p:spPr>
          <a:xfrm>
            <a:off x="59725" y="137750"/>
            <a:ext cx="47631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 Representation</a:t>
            </a:r>
            <a:endParaRPr/>
          </a:p>
        </p:txBody>
      </p:sp>
      <p:sp>
        <p:nvSpPr>
          <p:cNvPr id="1084" name="Google Shape;1084;p82"/>
          <p:cNvSpPr txBox="1"/>
          <p:nvPr>
            <p:ph idx="1" type="body"/>
          </p:nvPr>
        </p:nvSpPr>
        <p:spPr>
          <a:xfrm>
            <a:off x="6194325" y="0"/>
            <a:ext cx="2997300" cy="41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Call Volume Plot: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Signifies: Network capacity issues or demand fluctuation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Success Rate Plot: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Same timing: Anomalies align with call volume issues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Signifies: Service quality degradation during high-stress periods which showcases high call volumes.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85" name="Google Shape;1085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25" y="755700"/>
            <a:ext cx="6134599" cy="2252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83"/>
          <p:cNvSpPr txBox="1"/>
          <p:nvPr>
            <p:ph type="title"/>
          </p:nvPr>
        </p:nvSpPr>
        <p:spPr>
          <a:xfrm>
            <a:off x="59725" y="137750"/>
            <a:ext cx="47631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 Representation</a:t>
            </a:r>
            <a:endParaRPr/>
          </a:p>
        </p:txBody>
      </p:sp>
      <p:sp>
        <p:nvSpPr>
          <p:cNvPr id="1091" name="Google Shape;1091;p83"/>
          <p:cNvSpPr txBox="1"/>
          <p:nvPr>
            <p:ph idx="1" type="body"/>
          </p:nvPr>
        </p:nvSpPr>
        <p:spPr>
          <a:xfrm>
            <a:off x="5497472" y="-88490"/>
            <a:ext cx="3837900" cy="41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Revenue Plot:</a:t>
            </a:r>
            <a:endParaRPr b="1"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Pattern: High revenue (1,500) → sharp drop (600) → recovery → final drop (500)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Business impact: 60-70% revenue loss during anomalous periods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Signifies: Higher revenue during anomalies: +6.4% increase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Possible explanations: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AutoNum type="alphaLcPeriod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Premium/international calls during incidents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AutoNum type="alphaLcPeriod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Emergency call surcharges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AutoNum type="alphaLcPeriod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Higher-value customers affected differently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Method Comparison:</a:t>
            </a:r>
            <a:endParaRPr b="1"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Z-Score: 2 detections (most sensitive)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Isolation Forest: 1 detection (moderate)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Autoencoder: 1 detection (moderate)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Combined: 2 total unique anomalies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92" name="Google Shape;1092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25" y="741725"/>
            <a:ext cx="5544075" cy="17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84"/>
          <p:cNvSpPr txBox="1"/>
          <p:nvPr>
            <p:ph idx="2" type="title"/>
          </p:nvPr>
        </p:nvSpPr>
        <p:spPr>
          <a:xfrm>
            <a:off x="80825" y="0"/>
            <a:ext cx="5400000" cy="11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Object Clustering and Geospatial Analysis</a:t>
            </a:r>
            <a:endParaRPr/>
          </a:p>
        </p:txBody>
      </p:sp>
      <p:sp>
        <p:nvSpPr>
          <p:cNvPr id="1098" name="Google Shape;1098;p84"/>
          <p:cNvSpPr txBox="1"/>
          <p:nvPr>
            <p:ph idx="7" type="subTitle"/>
          </p:nvPr>
        </p:nvSpPr>
        <p:spPr>
          <a:xfrm>
            <a:off x="-147750" y="1182000"/>
            <a:ext cx="8658000" cy="30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Focus on clustering cell towers based on their geographic locations and network performance attributes.</a:t>
            </a:r>
            <a:br>
              <a:rPr lang="en" sz="1500">
                <a:solidFill>
                  <a:srgbClr val="000000"/>
                </a:solidFill>
              </a:rPr>
            </a:b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Use geospatial analysis to study coverage, density, and signal gaps across regions.</a:t>
            </a:r>
            <a:br>
              <a:rPr lang="en" sz="1500">
                <a:solidFill>
                  <a:srgbClr val="000000"/>
                </a:solidFill>
              </a:rPr>
            </a:b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Apply KMeans clustering to group towers spatially and identify coverage zones.</a:t>
            </a:r>
            <a:br>
              <a:rPr lang="en" sz="1500">
                <a:solidFill>
                  <a:srgbClr val="000000"/>
                </a:solidFill>
              </a:rPr>
            </a:b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Generate hexbin plots and interactive Folium maps for visualizing cluster patterns and throughput density.</a:t>
            </a:r>
            <a:br>
              <a:rPr lang="en" sz="1500">
                <a:solidFill>
                  <a:srgbClr val="000000"/>
                </a:solidFill>
              </a:rPr>
            </a:b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" sz="1500">
                <a:solidFill>
                  <a:srgbClr val="000000"/>
                </a:solidFill>
              </a:rPr>
              <a:t>The goal is to support optimized tower placement and congestion management using data-driven insights.</a:t>
            </a:r>
            <a:endParaRPr sz="15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85"/>
          <p:cNvSpPr txBox="1"/>
          <p:nvPr>
            <p:ph idx="2" type="title"/>
          </p:nvPr>
        </p:nvSpPr>
        <p:spPr>
          <a:xfrm>
            <a:off x="167375" y="115500"/>
            <a:ext cx="5400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1104" name="Google Shape;1104;p85"/>
          <p:cNvSpPr txBox="1"/>
          <p:nvPr>
            <p:ph idx="3" type="subTitle"/>
          </p:nvPr>
        </p:nvSpPr>
        <p:spPr>
          <a:xfrm>
            <a:off x="324450" y="920225"/>
            <a:ext cx="8094600" cy="3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• Data Preparation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 – Cleaned ~137k rows, 35 attributes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 – Derived features: traffic_density, coverage_efficiency, throughput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• Clustering Method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 – K Means (scalable clustering)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• GeoSpatial Analysis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 – Hexbin maps → visualize throughput density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 – Folium interactive maps → explore cluster patterns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 – Coverage metrics (under/over coverage, ratio) → assess network     efficiency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86"/>
          <p:cNvSpPr txBox="1"/>
          <p:nvPr>
            <p:ph idx="2" type="title"/>
          </p:nvPr>
        </p:nvSpPr>
        <p:spPr>
          <a:xfrm>
            <a:off x="0" y="172025"/>
            <a:ext cx="5400000" cy="11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Results: Geographic Clustering </a:t>
            </a:r>
            <a:endParaRPr/>
          </a:p>
        </p:txBody>
      </p:sp>
      <p:sp>
        <p:nvSpPr>
          <p:cNvPr id="1110" name="Google Shape;1110;p86"/>
          <p:cNvSpPr txBox="1"/>
          <p:nvPr>
            <p:ph idx="7" type="subTitle"/>
          </p:nvPr>
        </p:nvSpPr>
        <p:spPr>
          <a:xfrm>
            <a:off x="91750" y="1354025"/>
            <a:ext cx="4296300" cy="20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• Geographic Clusters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  – Towers grouped into clusters based on coordinates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  – Identifies demand centers vs. low-utilization zones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1111" name="Google Shape;1111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7225" y="892288"/>
            <a:ext cx="4451150" cy="3358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6" name="Google Shape;1116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3588" y="251575"/>
            <a:ext cx="6076825" cy="464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88"/>
          <p:cNvSpPr txBox="1"/>
          <p:nvPr>
            <p:ph idx="2" type="title"/>
          </p:nvPr>
        </p:nvSpPr>
        <p:spPr>
          <a:xfrm>
            <a:off x="361950" y="122400"/>
            <a:ext cx="8514000" cy="6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Results: Throughput based Clustering</a:t>
            </a:r>
            <a:endParaRPr sz="3500"/>
          </a:p>
        </p:txBody>
      </p:sp>
      <p:sp>
        <p:nvSpPr>
          <p:cNvPr id="1122" name="Google Shape;1122;p88"/>
          <p:cNvSpPr txBox="1"/>
          <p:nvPr>
            <p:ph idx="7" type="subTitle"/>
          </p:nvPr>
        </p:nvSpPr>
        <p:spPr>
          <a:xfrm>
            <a:off x="228600" y="1186725"/>
            <a:ext cx="3546600" cy="34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</a:t>
            </a:r>
            <a:r>
              <a:rPr lang="en" sz="1700"/>
              <a:t>Hexbin of Throughput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  – Displays average throughput density across Ireland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  – Darker hexes = higher traffic concentration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  – Helps spot regional hotspots (urban demand)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88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24" name="Google Shape;1124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7600" y="944400"/>
            <a:ext cx="5064001" cy="3292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89"/>
          <p:cNvSpPr txBox="1"/>
          <p:nvPr>
            <p:ph idx="2" type="title"/>
          </p:nvPr>
        </p:nvSpPr>
        <p:spPr>
          <a:xfrm>
            <a:off x="361950" y="122400"/>
            <a:ext cx="8514000" cy="6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Results: Evaluative Metrics</a:t>
            </a:r>
            <a:endParaRPr sz="3500"/>
          </a:p>
        </p:txBody>
      </p:sp>
      <p:sp>
        <p:nvSpPr>
          <p:cNvPr id="1130" name="Google Shape;1130;p89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1" name="Google Shape;1131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900" y="1333500"/>
            <a:ext cx="7734300" cy="24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90"/>
          <p:cNvSpPr txBox="1"/>
          <p:nvPr>
            <p:ph idx="2" type="body"/>
          </p:nvPr>
        </p:nvSpPr>
        <p:spPr>
          <a:xfrm>
            <a:off x="3541800" y="1116000"/>
            <a:ext cx="4895100" cy="29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- Predictive analytics can improve network planning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- Proactive upgrades reduce service disruptions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- Geospatial analysis identifies hotspots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- Serverless AWS pipeline enables scalable deployment (In Progress)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- Future Work: Reinforcement Learning for better capacity management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137" name="Google Shape;1137;p90"/>
          <p:cNvSpPr txBox="1"/>
          <p:nvPr>
            <p:ph idx="3" type="title"/>
          </p:nvPr>
        </p:nvSpPr>
        <p:spPr>
          <a:xfrm>
            <a:off x="619650" y="410300"/>
            <a:ext cx="3905400" cy="18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91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away!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92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